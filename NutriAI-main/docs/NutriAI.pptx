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8229600" cx="14630400"/>
  <p:notesSz cx="8229600" cy="14630400"/>
  <p:embeddedFontLst>
    <p:embeddedFont>
      <p:font typeface="Prata"/>
      <p:regular r:id="rId18"/>
    </p:embeddedFont>
    <p:embeddedFont>
      <p:font typeface="Raleway"/>
      <p:regular r:id="rId19"/>
      <p:bold r:id="rId20"/>
      <p:italic r:id="rId21"/>
      <p:boldItalic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EE2D670-4AE0-4960-BC58-9FC12FB3F473}">
  <a:tblStyle styleId="{3EE2D670-4AE0-4960-BC58-9FC12FB3F473}"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font" Target="fonts/Raleway-bold.fntdata"/><Relationship Id="rId11" Type="http://schemas.openxmlformats.org/officeDocument/2006/relationships/slide" Target="slides/slide6.xml"/><Relationship Id="rId22" Type="http://schemas.openxmlformats.org/officeDocument/2006/relationships/font" Target="fonts/Raleway-boldItalic.fntdata"/><Relationship Id="rId10" Type="http://schemas.openxmlformats.org/officeDocument/2006/relationships/slide" Target="slides/slide5.xml"/><Relationship Id="rId21" Type="http://schemas.openxmlformats.org/officeDocument/2006/relationships/font" Target="fonts/Raleway-italic.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Raleway-regular.fntdata"/><Relationship Id="rId6" Type="http://schemas.openxmlformats.org/officeDocument/2006/relationships/slide" Target="slides/slide1.xml"/><Relationship Id="rId18" Type="http://schemas.openxmlformats.org/officeDocument/2006/relationships/font" Target="fonts/Prata-regular.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t>‹#›</a:t>
            </a:fld>
            <a:endParaRPr b="0" i="0" sz="1200" u="none" cap="none" strike="noStrik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 name="Google Shape;5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Sara - </a:t>
            </a:r>
            <a:endParaRPr/>
          </a:p>
        </p:txBody>
      </p:sp>
      <p:sp>
        <p:nvSpPr>
          <p:cNvPr id="54" name="Google Shape;5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 name="Google Shape;61;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lang="en-US"/>
              <a:t>Sara - There are many apps available to track your calories, but they don’t act as your own personal nutritionist, and they do not encompass a variety of cuisines and dietary restrictions. Thats why we created NutriAI. Personal nutritionist in your pocket!!!</a:t>
            </a:r>
            <a:endParaRPr/>
          </a:p>
        </p:txBody>
      </p:sp>
      <p:sp>
        <p:nvSpPr>
          <p:cNvPr id="62" name="Google Shape;62;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 name="Google Shape;77;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Ruby - NutriAI is </a:t>
            </a:r>
            <a:r>
              <a:rPr lang="en-US"/>
              <a:t>designed as a web app with four different features to assist you in your health goals. User Profile to set your goals and personalized information, log a meal to track your daily intake (manually or with AI camera), get recipes based on diet calories, and cuisine, and get advice to interact with your personalized AI nutritionist. </a:t>
            </a:r>
            <a:endParaRPr/>
          </a:p>
        </p:txBody>
      </p:sp>
      <p:sp>
        <p:nvSpPr>
          <p:cNvPr id="78" name="Google Shape;78;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 name="Google Shape;102;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Ruby - we have made it simple to start using our app read slide girl </a:t>
            </a:r>
            <a:endParaRPr/>
          </a:p>
        </p:txBody>
      </p:sp>
      <p:sp>
        <p:nvSpPr>
          <p:cNvPr id="103" name="Google Shape;103;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2" name="Google Shape;122;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Sisira - A key element of NutriAI is uploading photos from your camera roll and let the Gemini flash identify the food and nutritional stats. Uploaded photos are added to your daily log to track your calorie goals. </a:t>
            </a:r>
            <a:endParaRPr/>
          </a:p>
        </p:txBody>
      </p:sp>
      <p:sp>
        <p:nvSpPr>
          <p:cNvPr id="123" name="Google Shape;123;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2" name="Google Shape;142;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Sisira - As you can see in the walkthrough, we can search through multiple cuisines or describe the type of lunch you’d like to have. You can use a prompt like “I want to eat something like Chick fil a </a:t>
            </a:r>
            <a:r>
              <a:rPr lang="en-US"/>
              <a:t>sandwich within my calorie limit for the day”.  </a:t>
            </a:r>
            <a:endParaRPr/>
          </a:p>
        </p:txBody>
      </p:sp>
      <p:sp>
        <p:nvSpPr>
          <p:cNvPr id="143" name="Google Shape;143;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d9c67184cd_1_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3" name="Google Shape;153;g3d9c67184cd_1_1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4" name="Google Shape;154;g3d9c67184cd_1_1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1" name="Google Shape;171;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Sisira</a:t>
            </a:r>
            <a:endParaRPr/>
          </a:p>
        </p:txBody>
      </p:sp>
      <p:sp>
        <p:nvSpPr>
          <p:cNvPr id="172" name="Google Shape;172;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7" name="Google Shape;187;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Sirisiaisaisi</a:t>
            </a:r>
            <a:endParaRPr/>
          </a:p>
        </p:txBody>
      </p:sp>
      <p:sp>
        <p:nvSpPr>
          <p:cNvPr id="188" name="Google Shape;188;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4" name="Google Shape;214;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Bhoomi do ur thing </a:t>
            </a:r>
            <a:endParaRPr/>
          </a:p>
        </p:txBody>
      </p:sp>
      <p:sp>
        <p:nvSpPr>
          <p:cNvPr id="215" name="Google Shape;215;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da86191083_1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2" name="Google Shape;222;g3da86191083_1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Noah</a:t>
            </a:r>
            <a:endParaRPr/>
          </a:p>
        </p:txBody>
      </p:sp>
      <p:sp>
        <p:nvSpPr>
          <p:cNvPr id="223" name="Google Shape;223;g3da86191083_1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d9c67184cd_2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3d9c67184cd_2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0" name="Google Shape;230;g3d9c67184cd_2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8.png"/><Relationship Id="rId3" Type="http://schemas.openxmlformats.org/officeDocument/2006/relationships/hyperlink" Target="https://gamma.app/?utm_source=made-with-gamma" TargetMode="Externa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8.png"/><Relationship Id="rId3" Type="http://schemas.openxmlformats.org/officeDocument/2006/relationships/hyperlink" Target="https://gamma.app/?utm_source=made-with-gamma" TargetMode="Externa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8.png"/><Relationship Id="rId3" Type="http://schemas.openxmlformats.org/officeDocument/2006/relationships/hyperlink" Target="https://gamma.app/?utm_source=made-with-gamma" TargetMode="External"/><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8.png"/><Relationship Id="rId3" Type="http://schemas.openxmlformats.org/officeDocument/2006/relationships/hyperlink" Target="https://gamma.app/?utm_source=made-with-gamma" TargetMode="External"/><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8.png"/><Relationship Id="rId3" Type="http://schemas.openxmlformats.org/officeDocument/2006/relationships/hyperlink" Target="https://gamma.app/?utm_source=made-with-gamma" TargetMode="External"/><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8.png"/><Relationship Id="rId3" Type="http://schemas.openxmlformats.org/officeDocument/2006/relationships/hyperlink" Target="https://gamma.app/?utm_source=made-with-gamma" TargetMode="External"/><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8.png"/><Relationship Id="rId3" Type="http://schemas.openxmlformats.org/officeDocument/2006/relationships/hyperlink" Target="https://gamma.app/?utm_source=made-with-gamma" TargetMode="External"/><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8.png"/><Relationship Id="rId3" Type="http://schemas.openxmlformats.org/officeDocument/2006/relationships/hyperlink" Target="https://gamma.app/?utm_source=made-with-gamma" TargetMode="External"/><Relationship Id="rId4"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8.png"/><Relationship Id="rId3" Type="http://schemas.openxmlformats.org/officeDocument/2006/relationships/hyperlink" Target="https://gamma.app/?utm_source=made-with-gamma" TargetMode="External"/><Relationship Id="rId4"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8.png"/><Relationship Id="rId3" Type="http://schemas.openxmlformats.org/officeDocument/2006/relationships/hyperlink" Target="https://gamma.app/?utm_source=made-with-gamma" TargetMode="External"/><Relationship Id="rId4"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 master">
  <p:cSld name="Slide 1 master">
    <p:spTree>
      <p:nvGrpSpPr>
        <p:cNvPr id="10" name="Shape 10"/>
        <p:cNvGrpSpPr/>
        <p:nvPr/>
      </p:nvGrpSpPr>
      <p:grpSpPr>
        <a:xfrm>
          <a:off x="0" y="0"/>
          <a:ext cx="0" cy="0"/>
          <a:chOff x="0" y="0"/>
          <a:chExt cx="0" cy="0"/>
        </a:xfrm>
      </p:grpSpPr>
      <p:pic>
        <p:nvPicPr>
          <p:cNvPr descr="preencoded.png" id="11" name="Google Shape;11;p2"/>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12" name="Google Shape;12;p2"/>
          <p:cNvSpPr/>
          <p:nvPr/>
        </p:nvSpPr>
        <p:spPr>
          <a:xfrm>
            <a:off x="0" y="0"/>
            <a:ext cx="14630400" cy="8229600"/>
          </a:xfrm>
          <a:prstGeom prst="rect">
            <a:avLst/>
          </a:prstGeom>
          <a:solidFill>
            <a:srgbClr val="1B1C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3" name="Google Shape;13;p2">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 master">
  <p:cSld name="Slide 2 master">
    <p:spTree>
      <p:nvGrpSpPr>
        <p:cNvPr id="14" name="Shape 14"/>
        <p:cNvGrpSpPr/>
        <p:nvPr/>
      </p:nvGrpSpPr>
      <p:grpSpPr>
        <a:xfrm>
          <a:off x="0" y="0"/>
          <a:ext cx="0" cy="0"/>
          <a:chOff x="0" y="0"/>
          <a:chExt cx="0" cy="0"/>
        </a:xfrm>
      </p:grpSpPr>
      <p:pic>
        <p:nvPicPr>
          <p:cNvPr descr="preencoded.png" id="15" name="Google Shape;15;p3"/>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16" name="Google Shape;16;p3"/>
          <p:cNvSpPr/>
          <p:nvPr/>
        </p:nvSpPr>
        <p:spPr>
          <a:xfrm>
            <a:off x="0" y="0"/>
            <a:ext cx="14630400" cy="8229600"/>
          </a:xfrm>
          <a:prstGeom prst="rect">
            <a:avLst/>
          </a:prstGeom>
          <a:solidFill>
            <a:srgbClr val="1B1C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7" name="Google Shape;17;p3">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3 master">
  <p:cSld name="Slide 3 master">
    <p:spTree>
      <p:nvGrpSpPr>
        <p:cNvPr id="18" name="Shape 18"/>
        <p:cNvGrpSpPr/>
        <p:nvPr/>
      </p:nvGrpSpPr>
      <p:grpSpPr>
        <a:xfrm>
          <a:off x="0" y="0"/>
          <a:ext cx="0" cy="0"/>
          <a:chOff x="0" y="0"/>
          <a:chExt cx="0" cy="0"/>
        </a:xfrm>
      </p:grpSpPr>
      <p:pic>
        <p:nvPicPr>
          <p:cNvPr descr="preencoded.png" id="19" name="Google Shape;19;p4"/>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20" name="Google Shape;20;p4"/>
          <p:cNvSpPr/>
          <p:nvPr/>
        </p:nvSpPr>
        <p:spPr>
          <a:xfrm>
            <a:off x="0" y="0"/>
            <a:ext cx="14630400" cy="8229600"/>
          </a:xfrm>
          <a:prstGeom prst="rect">
            <a:avLst/>
          </a:prstGeom>
          <a:solidFill>
            <a:srgbClr val="1B1C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1" name="Google Shape;21;p4">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4 master">
  <p:cSld name="Slide 4 master">
    <p:spTree>
      <p:nvGrpSpPr>
        <p:cNvPr id="22" name="Shape 22"/>
        <p:cNvGrpSpPr/>
        <p:nvPr/>
      </p:nvGrpSpPr>
      <p:grpSpPr>
        <a:xfrm>
          <a:off x="0" y="0"/>
          <a:ext cx="0" cy="0"/>
          <a:chOff x="0" y="0"/>
          <a:chExt cx="0" cy="0"/>
        </a:xfrm>
      </p:grpSpPr>
      <p:pic>
        <p:nvPicPr>
          <p:cNvPr descr="preencoded.png" id="23" name="Google Shape;23;p5"/>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24" name="Google Shape;24;p5"/>
          <p:cNvSpPr/>
          <p:nvPr/>
        </p:nvSpPr>
        <p:spPr>
          <a:xfrm>
            <a:off x="0" y="0"/>
            <a:ext cx="14630400" cy="8229600"/>
          </a:xfrm>
          <a:prstGeom prst="rect">
            <a:avLst/>
          </a:prstGeom>
          <a:solidFill>
            <a:srgbClr val="1B1C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5" name="Google Shape;25;p5">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5 master">
  <p:cSld name="Slide 5 master">
    <p:spTree>
      <p:nvGrpSpPr>
        <p:cNvPr id="26" name="Shape 26"/>
        <p:cNvGrpSpPr/>
        <p:nvPr/>
      </p:nvGrpSpPr>
      <p:grpSpPr>
        <a:xfrm>
          <a:off x="0" y="0"/>
          <a:ext cx="0" cy="0"/>
          <a:chOff x="0" y="0"/>
          <a:chExt cx="0" cy="0"/>
        </a:xfrm>
      </p:grpSpPr>
      <p:pic>
        <p:nvPicPr>
          <p:cNvPr descr="preencoded.png" id="27" name="Google Shape;27;p6"/>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28" name="Google Shape;28;p6"/>
          <p:cNvSpPr/>
          <p:nvPr/>
        </p:nvSpPr>
        <p:spPr>
          <a:xfrm>
            <a:off x="0" y="0"/>
            <a:ext cx="14630400" cy="8229600"/>
          </a:xfrm>
          <a:prstGeom prst="rect">
            <a:avLst/>
          </a:prstGeom>
          <a:solidFill>
            <a:srgbClr val="1B1C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9" name="Google Shape;29;p6">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6 master">
  <p:cSld name="Slide 6 master">
    <p:spTree>
      <p:nvGrpSpPr>
        <p:cNvPr id="30" name="Shape 30"/>
        <p:cNvGrpSpPr/>
        <p:nvPr/>
      </p:nvGrpSpPr>
      <p:grpSpPr>
        <a:xfrm>
          <a:off x="0" y="0"/>
          <a:ext cx="0" cy="0"/>
          <a:chOff x="0" y="0"/>
          <a:chExt cx="0" cy="0"/>
        </a:xfrm>
      </p:grpSpPr>
      <p:pic>
        <p:nvPicPr>
          <p:cNvPr descr="preencoded.png" id="31" name="Google Shape;31;p7"/>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32" name="Google Shape;32;p7"/>
          <p:cNvSpPr/>
          <p:nvPr/>
        </p:nvSpPr>
        <p:spPr>
          <a:xfrm>
            <a:off x="0" y="0"/>
            <a:ext cx="14630400" cy="8229600"/>
          </a:xfrm>
          <a:prstGeom prst="rect">
            <a:avLst/>
          </a:prstGeom>
          <a:solidFill>
            <a:srgbClr val="1B1C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3" name="Google Shape;33;p7">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7 master">
  <p:cSld name="Slide 7 master">
    <p:spTree>
      <p:nvGrpSpPr>
        <p:cNvPr id="34" name="Shape 34"/>
        <p:cNvGrpSpPr/>
        <p:nvPr/>
      </p:nvGrpSpPr>
      <p:grpSpPr>
        <a:xfrm>
          <a:off x="0" y="0"/>
          <a:ext cx="0" cy="0"/>
          <a:chOff x="0" y="0"/>
          <a:chExt cx="0" cy="0"/>
        </a:xfrm>
      </p:grpSpPr>
      <p:pic>
        <p:nvPicPr>
          <p:cNvPr descr="preencoded.png" id="35" name="Google Shape;35;p8"/>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36" name="Google Shape;36;p8"/>
          <p:cNvSpPr/>
          <p:nvPr/>
        </p:nvSpPr>
        <p:spPr>
          <a:xfrm>
            <a:off x="0" y="0"/>
            <a:ext cx="14630400" cy="8229600"/>
          </a:xfrm>
          <a:prstGeom prst="rect">
            <a:avLst/>
          </a:prstGeom>
          <a:solidFill>
            <a:srgbClr val="1B1C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7" name="Google Shape;37;p8">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8 master">
  <p:cSld name="Slide 8 master">
    <p:spTree>
      <p:nvGrpSpPr>
        <p:cNvPr id="38" name="Shape 38"/>
        <p:cNvGrpSpPr/>
        <p:nvPr/>
      </p:nvGrpSpPr>
      <p:grpSpPr>
        <a:xfrm>
          <a:off x="0" y="0"/>
          <a:ext cx="0" cy="0"/>
          <a:chOff x="0" y="0"/>
          <a:chExt cx="0" cy="0"/>
        </a:xfrm>
      </p:grpSpPr>
      <p:pic>
        <p:nvPicPr>
          <p:cNvPr descr="preencoded.png" id="39" name="Google Shape;39;p9"/>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40" name="Google Shape;40;p9"/>
          <p:cNvSpPr/>
          <p:nvPr/>
        </p:nvSpPr>
        <p:spPr>
          <a:xfrm>
            <a:off x="0" y="0"/>
            <a:ext cx="14630400" cy="8229600"/>
          </a:xfrm>
          <a:prstGeom prst="rect">
            <a:avLst/>
          </a:prstGeom>
          <a:solidFill>
            <a:srgbClr val="1B1C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1" name="Google Shape;41;p9">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9 master">
  <p:cSld name="Slide 9 master">
    <p:spTree>
      <p:nvGrpSpPr>
        <p:cNvPr id="42" name="Shape 42"/>
        <p:cNvGrpSpPr/>
        <p:nvPr/>
      </p:nvGrpSpPr>
      <p:grpSpPr>
        <a:xfrm>
          <a:off x="0" y="0"/>
          <a:ext cx="0" cy="0"/>
          <a:chOff x="0" y="0"/>
          <a:chExt cx="0" cy="0"/>
        </a:xfrm>
      </p:grpSpPr>
      <p:pic>
        <p:nvPicPr>
          <p:cNvPr descr="preencoded.png" id="43" name="Google Shape;43;p10"/>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44" name="Google Shape;44;p10"/>
          <p:cNvSpPr/>
          <p:nvPr/>
        </p:nvSpPr>
        <p:spPr>
          <a:xfrm>
            <a:off x="0" y="0"/>
            <a:ext cx="14630400" cy="8229600"/>
          </a:xfrm>
          <a:prstGeom prst="rect">
            <a:avLst/>
          </a:prstGeom>
          <a:solidFill>
            <a:srgbClr val="1B1C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5" name="Google Shape;45;p10">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0 master">
  <p:cSld name="Slide 10 master">
    <p:spTree>
      <p:nvGrpSpPr>
        <p:cNvPr id="46" name="Shape 46"/>
        <p:cNvGrpSpPr/>
        <p:nvPr/>
      </p:nvGrpSpPr>
      <p:grpSpPr>
        <a:xfrm>
          <a:off x="0" y="0"/>
          <a:ext cx="0" cy="0"/>
          <a:chOff x="0" y="0"/>
          <a:chExt cx="0" cy="0"/>
        </a:xfrm>
      </p:grpSpPr>
      <p:pic>
        <p:nvPicPr>
          <p:cNvPr descr="preencoded.png" id="47" name="Google Shape;47;p11"/>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48" name="Google Shape;48;p11"/>
          <p:cNvSpPr/>
          <p:nvPr/>
        </p:nvSpPr>
        <p:spPr>
          <a:xfrm>
            <a:off x="0" y="0"/>
            <a:ext cx="14630400" cy="8229600"/>
          </a:xfrm>
          <a:prstGeom prst="rect">
            <a:avLst/>
          </a:prstGeom>
          <a:solidFill>
            <a:srgbClr val="1B1C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9" name="Google Shape;49;p11">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0" name="Shape 5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7.png"/><Relationship Id="rId4" Type="http://schemas.openxmlformats.org/officeDocument/2006/relationships/image" Target="../media/image13.png"/><Relationship Id="rId5" Type="http://schemas.openxmlformats.org/officeDocument/2006/relationships/image" Target="../media/image1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40.png"/><Relationship Id="rId4" Type="http://schemas.openxmlformats.org/officeDocument/2006/relationships/image" Target="../media/image20.png"/><Relationship Id="rId5" Type="http://schemas.openxmlformats.org/officeDocument/2006/relationships/image" Target="../media/image18.png"/><Relationship Id="rId6" Type="http://schemas.openxmlformats.org/officeDocument/2006/relationships/image" Target="../media/image21.png"/><Relationship Id="rId7" Type="http://schemas.openxmlformats.org/officeDocument/2006/relationships/image" Target="../media/image24.png"/><Relationship Id="rId8" Type="http://schemas.openxmlformats.org/officeDocument/2006/relationships/image" Target="../media/image1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29.png"/><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9.png"/><Relationship Id="rId4" Type="http://schemas.openxmlformats.org/officeDocument/2006/relationships/image" Target="../media/image14.png"/><Relationship Id="rId5" Type="http://schemas.openxmlformats.org/officeDocument/2006/relationships/image" Target="../media/image2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7.xml"/><Relationship Id="rId3" Type="http://schemas.openxmlformats.org/officeDocument/2006/relationships/image" Target="../media/image14.png"/><Relationship Id="rId4" Type="http://schemas.openxmlformats.org/officeDocument/2006/relationships/image" Target="../media/image27.png"/><Relationship Id="rId5" Type="http://schemas.openxmlformats.org/officeDocument/2006/relationships/image" Target="../media/image2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image" Target="../media/image31.png"/><Relationship Id="rId4" Type="http://schemas.openxmlformats.org/officeDocument/2006/relationships/image" Target="../media/image25.png"/><Relationship Id="rId5" Type="http://schemas.openxmlformats.org/officeDocument/2006/relationships/image" Target="../media/image38.png"/><Relationship Id="rId6"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xml"/><Relationship Id="rId3" Type="http://schemas.openxmlformats.org/officeDocument/2006/relationships/image" Target="../media/image28.png"/><Relationship Id="rId4" Type="http://schemas.openxmlformats.org/officeDocument/2006/relationships/image" Target="../media/image35.png"/><Relationship Id="rId11" Type="http://schemas.openxmlformats.org/officeDocument/2006/relationships/image" Target="../media/image14.png"/><Relationship Id="rId10" Type="http://schemas.openxmlformats.org/officeDocument/2006/relationships/image" Target="../media/image34.png"/><Relationship Id="rId9" Type="http://schemas.openxmlformats.org/officeDocument/2006/relationships/image" Target="../media/image39.png"/><Relationship Id="rId5" Type="http://schemas.openxmlformats.org/officeDocument/2006/relationships/image" Target="../media/image30.png"/><Relationship Id="rId6" Type="http://schemas.openxmlformats.org/officeDocument/2006/relationships/image" Target="../media/image33.png"/><Relationship Id="rId7" Type="http://schemas.openxmlformats.org/officeDocument/2006/relationships/image" Target="../media/image36.png"/><Relationship Id="rId8" Type="http://schemas.openxmlformats.org/officeDocument/2006/relationships/image" Target="../media/image3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0.xml"/><Relationship Id="rId3" Type="http://schemas.openxmlformats.org/officeDocument/2006/relationships/image" Target="../media/image14.png"/><Relationship Id="rId4" Type="http://schemas.openxmlformats.org/officeDocument/2006/relationships/hyperlink" Target="http://drive.google.com/file/d/1EHVfLNR9MNb_5QpbO7rnw5dfX-Jkm4wr/view" TargetMode="External"/><Relationship Id="rId5" Type="http://schemas.openxmlformats.org/officeDocument/2006/relationships/image" Target="../media/image37.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1.xml"/><Relationship Id="rId3"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2.xml"/><Relationship Id="rId3"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pic>
        <p:nvPicPr>
          <p:cNvPr descr="preencoded.png" id="56" name="Google Shape;56;p13"/>
          <p:cNvPicPr preferRelativeResize="0"/>
          <p:nvPr/>
        </p:nvPicPr>
        <p:blipFill rotWithShape="1">
          <a:blip r:embed="rId3">
            <a:alphaModFix/>
          </a:blip>
          <a:srcRect b="0" l="0" r="0" t="0"/>
          <a:stretch/>
        </p:blipFill>
        <p:spPr>
          <a:xfrm>
            <a:off x="9144000" y="0"/>
            <a:ext cx="5486400" cy="8229600"/>
          </a:xfrm>
          <a:prstGeom prst="rect">
            <a:avLst/>
          </a:prstGeom>
          <a:noFill/>
          <a:ln>
            <a:noFill/>
          </a:ln>
        </p:spPr>
      </p:pic>
      <p:sp>
        <p:nvSpPr>
          <p:cNvPr id="57" name="Google Shape;57;p13"/>
          <p:cNvSpPr/>
          <p:nvPr/>
        </p:nvSpPr>
        <p:spPr>
          <a:xfrm>
            <a:off x="793790" y="3408878"/>
            <a:ext cx="5670590"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F2E782"/>
              </a:buClr>
              <a:buSzPts val="4450"/>
              <a:buFont typeface="Prata"/>
              <a:buNone/>
            </a:pPr>
            <a:r>
              <a:rPr b="0" i="0" lang="en-US" sz="4450" u="none" cap="none" strike="noStrike">
                <a:solidFill>
                  <a:srgbClr val="F2E782"/>
                </a:solidFill>
                <a:latin typeface="Prata"/>
                <a:ea typeface="Prata"/>
                <a:cs typeface="Prata"/>
                <a:sym typeface="Prata"/>
              </a:rPr>
              <a:t>NutriAI</a:t>
            </a:r>
            <a:endParaRPr b="0" i="0" sz="4450" u="none" cap="none" strike="noStrike"/>
          </a:p>
        </p:txBody>
      </p:sp>
      <p:sp>
        <p:nvSpPr>
          <p:cNvPr id="58" name="Google Shape;58;p13"/>
          <p:cNvSpPr/>
          <p:nvPr/>
        </p:nvSpPr>
        <p:spPr>
          <a:xfrm>
            <a:off x="793790" y="4457819"/>
            <a:ext cx="7556421" cy="36290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CFCBBF"/>
              </a:buClr>
              <a:buSzPts val="1750"/>
              <a:buFont typeface="Raleway"/>
              <a:buNone/>
            </a:pPr>
            <a:r>
              <a:rPr b="0" i="0" lang="en-US" sz="1750" u="none" cap="none" strike="noStrike">
                <a:solidFill>
                  <a:srgbClr val="CFCBBF"/>
                </a:solidFill>
                <a:latin typeface="Raleway"/>
                <a:ea typeface="Raleway"/>
                <a:cs typeface="Raleway"/>
                <a:sym typeface="Raleway"/>
              </a:rPr>
              <a:t>Your AI-powered nutrition companion — track, discover, and eat smarter.</a:t>
            </a:r>
            <a:endParaRPr b="0" i="0" sz="1750" u="none" cap="none" strike="noStrike">
              <a:solidFill>
                <a:srgbClr val="CFCBBF"/>
              </a:solidFill>
              <a:latin typeface="Raleway"/>
              <a:ea typeface="Raleway"/>
              <a:cs typeface="Raleway"/>
              <a:sym typeface="Raleway"/>
            </a:endParaRPr>
          </a:p>
          <a:p>
            <a:pPr indent="0" lvl="0" marL="0" marR="0" rtl="0" algn="l">
              <a:lnSpc>
                <a:spcPct val="162857"/>
              </a:lnSpc>
              <a:spcBef>
                <a:spcPts val="0"/>
              </a:spcBef>
              <a:spcAft>
                <a:spcPts val="0"/>
              </a:spcAft>
              <a:buClr>
                <a:srgbClr val="CFCBBF"/>
              </a:buClr>
              <a:buSzPts val="1750"/>
              <a:buFont typeface="Raleway"/>
              <a:buNone/>
            </a:pPr>
            <a:r>
              <a:rPr b="1" lang="en-US" sz="1750">
                <a:solidFill>
                  <a:srgbClr val="CFCBBF"/>
                </a:solidFill>
                <a:latin typeface="Raleway"/>
                <a:ea typeface="Raleway"/>
                <a:cs typeface="Raleway"/>
                <a:sym typeface="Raleway"/>
              </a:rPr>
              <a:t>Ruby Albers, Sisira Boppana, Bhoomi Mehta, Sara Chandorkar, Noah Conrad</a:t>
            </a:r>
            <a:endParaRPr b="1" sz="1750">
              <a:solidFill>
                <a:srgbClr val="CFCBBF"/>
              </a:solidFill>
              <a:latin typeface="Raleway"/>
              <a:ea typeface="Raleway"/>
              <a:cs typeface="Raleway"/>
              <a:sym typeface="Raleway"/>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pic>
        <p:nvPicPr>
          <p:cNvPr descr="preencoded.png" id="64" name="Google Shape;64;p14"/>
          <p:cNvPicPr preferRelativeResize="0"/>
          <p:nvPr/>
        </p:nvPicPr>
        <p:blipFill rotWithShape="1">
          <a:blip r:embed="rId3">
            <a:alphaModFix/>
          </a:blip>
          <a:srcRect b="0" l="0" r="0" t="0"/>
          <a:stretch/>
        </p:blipFill>
        <p:spPr>
          <a:xfrm>
            <a:off x="9144000" y="0"/>
            <a:ext cx="5486400" cy="8229600"/>
          </a:xfrm>
          <a:prstGeom prst="rect">
            <a:avLst/>
          </a:prstGeom>
          <a:noFill/>
          <a:ln>
            <a:noFill/>
          </a:ln>
        </p:spPr>
      </p:pic>
      <p:sp>
        <p:nvSpPr>
          <p:cNvPr id="65" name="Google Shape;65;p14"/>
          <p:cNvSpPr/>
          <p:nvPr/>
        </p:nvSpPr>
        <p:spPr>
          <a:xfrm>
            <a:off x="793790" y="1988463"/>
            <a:ext cx="5670590"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F2E782"/>
              </a:buClr>
              <a:buSzPts val="4450"/>
              <a:buFont typeface="Prata"/>
              <a:buNone/>
            </a:pPr>
            <a:r>
              <a:rPr b="0" i="0" lang="en-US" sz="4450" u="none" cap="none" strike="noStrike">
                <a:solidFill>
                  <a:srgbClr val="F2E782"/>
                </a:solidFill>
                <a:latin typeface="Prata"/>
                <a:ea typeface="Prata"/>
                <a:cs typeface="Prata"/>
                <a:sym typeface="Prata"/>
              </a:rPr>
              <a:t>The Problem</a:t>
            </a:r>
            <a:endParaRPr b="0" i="0" sz="4450" u="none" cap="none" strike="noStrike"/>
          </a:p>
        </p:txBody>
      </p:sp>
      <p:sp>
        <p:nvSpPr>
          <p:cNvPr id="66" name="Google Shape;66;p14"/>
          <p:cNvSpPr/>
          <p:nvPr/>
        </p:nvSpPr>
        <p:spPr>
          <a:xfrm>
            <a:off x="793790" y="3037403"/>
            <a:ext cx="3664744" cy="1669852"/>
          </a:xfrm>
          <a:prstGeom prst="roundRect">
            <a:avLst>
              <a:gd fmla="val 2038" name="adj"/>
            </a:avLst>
          </a:prstGeom>
          <a:solidFill>
            <a:srgbClr val="3A3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14"/>
          <p:cNvSpPr/>
          <p:nvPr/>
        </p:nvSpPr>
        <p:spPr>
          <a:xfrm>
            <a:off x="1020604" y="3264218"/>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CFCBBF"/>
              </a:buClr>
              <a:buSzPts val="2200"/>
              <a:buFont typeface="Prata"/>
              <a:buNone/>
            </a:pPr>
            <a:r>
              <a:rPr b="0" i="0" lang="en-US" sz="2200" u="none" cap="none" strike="noStrike">
                <a:solidFill>
                  <a:srgbClr val="CFCBBF"/>
                </a:solidFill>
                <a:latin typeface="Prata"/>
                <a:ea typeface="Prata"/>
                <a:cs typeface="Prata"/>
                <a:sym typeface="Prata"/>
              </a:rPr>
              <a:t>Tracking is tedious</a:t>
            </a:r>
            <a:endParaRPr b="0" i="0" sz="2200" u="none" cap="none" strike="noStrike"/>
          </a:p>
        </p:txBody>
      </p:sp>
      <p:sp>
        <p:nvSpPr>
          <p:cNvPr id="68" name="Google Shape;68;p14"/>
          <p:cNvSpPr/>
          <p:nvPr/>
        </p:nvSpPr>
        <p:spPr>
          <a:xfrm>
            <a:off x="1020604" y="3754636"/>
            <a:ext cx="3211116"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CFCBBF"/>
              </a:buClr>
              <a:buSzPts val="1750"/>
              <a:buFont typeface="Raleway"/>
              <a:buNone/>
            </a:pPr>
            <a:r>
              <a:rPr b="0" i="0" lang="en-US" sz="1750" u="none" cap="none" strike="noStrike">
                <a:solidFill>
                  <a:srgbClr val="CFCBBF"/>
                </a:solidFill>
                <a:latin typeface="Raleway"/>
                <a:ea typeface="Raleway"/>
                <a:cs typeface="Raleway"/>
                <a:sym typeface="Raleway"/>
              </a:rPr>
              <a:t>Manual logging is slow and discouraging</a:t>
            </a:r>
            <a:endParaRPr b="0" i="0" sz="1750" u="none" cap="none" strike="noStrike"/>
          </a:p>
        </p:txBody>
      </p:sp>
      <p:sp>
        <p:nvSpPr>
          <p:cNvPr id="69" name="Google Shape;69;p14"/>
          <p:cNvSpPr/>
          <p:nvPr/>
        </p:nvSpPr>
        <p:spPr>
          <a:xfrm>
            <a:off x="4685348" y="3037403"/>
            <a:ext cx="3664863" cy="1669852"/>
          </a:xfrm>
          <a:prstGeom prst="roundRect">
            <a:avLst>
              <a:gd fmla="val 2038" name="adj"/>
            </a:avLst>
          </a:prstGeom>
          <a:solidFill>
            <a:srgbClr val="3A3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14"/>
          <p:cNvSpPr/>
          <p:nvPr/>
        </p:nvSpPr>
        <p:spPr>
          <a:xfrm>
            <a:off x="4912162" y="3264218"/>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CFCBBF"/>
              </a:buClr>
              <a:buSzPts val="2200"/>
              <a:buFont typeface="Prata"/>
              <a:buNone/>
            </a:pPr>
            <a:r>
              <a:rPr b="0" i="0" lang="en-US" sz="2200" u="none" cap="none" strike="noStrike">
                <a:solidFill>
                  <a:srgbClr val="CFCBBF"/>
                </a:solidFill>
                <a:latin typeface="Prata"/>
                <a:ea typeface="Prata"/>
                <a:cs typeface="Prata"/>
                <a:sym typeface="Prata"/>
              </a:rPr>
              <a:t>Hard to stay on goal</a:t>
            </a:r>
            <a:endParaRPr b="0" i="0" sz="2200" u="none" cap="none" strike="noStrike"/>
          </a:p>
        </p:txBody>
      </p:sp>
      <p:sp>
        <p:nvSpPr>
          <p:cNvPr id="71" name="Google Shape;71;p14"/>
          <p:cNvSpPr/>
          <p:nvPr/>
        </p:nvSpPr>
        <p:spPr>
          <a:xfrm>
            <a:off x="4912162" y="3754636"/>
            <a:ext cx="3211235"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CFCBBF"/>
              </a:buClr>
              <a:buSzPts val="1750"/>
              <a:buFont typeface="Raleway"/>
              <a:buNone/>
            </a:pPr>
            <a:r>
              <a:rPr b="0" i="0" lang="en-US" sz="1750" u="none" cap="none" strike="noStrike">
                <a:solidFill>
                  <a:srgbClr val="CFCBBF"/>
                </a:solidFill>
                <a:latin typeface="Raleway"/>
                <a:ea typeface="Raleway"/>
                <a:cs typeface="Raleway"/>
                <a:sym typeface="Raleway"/>
              </a:rPr>
              <a:t>No personalized guidance for calorie targets</a:t>
            </a:r>
            <a:endParaRPr b="0" i="0" sz="1750" u="none" cap="none" strike="noStrike"/>
          </a:p>
        </p:txBody>
      </p:sp>
      <p:sp>
        <p:nvSpPr>
          <p:cNvPr id="72" name="Google Shape;72;p14"/>
          <p:cNvSpPr/>
          <p:nvPr/>
        </p:nvSpPr>
        <p:spPr>
          <a:xfrm>
            <a:off x="793790" y="4934069"/>
            <a:ext cx="7556421" cy="1306949"/>
          </a:xfrm>
          <a:prstGeom prst="roundRect">
            <a:avLst>
              <a:gd fmla="val 2603" name="adj"/>
            </a:avLst>
          </a:prstGeom>
          <a:solidFill>
            <a:srgbClr val="3A3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4"/>
          <p:cNvSpPr/>
          <p:nvPr/>
        </p:nvSpPr>
        <p:spPr>
          <a:xfrm>
            <a:off x="1020604" y="5160883"/>
            <a:ext cx="2872026"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CFCBBF"/>
              </a:buClr>
              <a:buSzPts val="2200"/>
              <a:buFont typeface="Prata"/>
              <a:buNone/>
            </a:pPr>
            <a:r>
              <a:rPr b="0" i="0" lang="en-US" sz="2200" u="none" cap="none" strike="noStrike">
                <a:solidFill>
                  <a:srgbClr val="CFCBBF"/>
                </a:solidFill>
                <a:latin typeface="Prata"/>
                <a:ea typeface="Prata"/>
                <a:cs typeface="Prata"/>
                <a:sym typeface="Prata"/>
              </a:rPr>
              <a:t>Recipe discovery gap</a:t>
            </a:r>
            <a:endParaRPr b="0" i="0" sz="2200" u="none" cap="none" strike="noStrike"/>
          </a:p>
        </p:txBody>
      </p:sp>
      <p:sp>
        <p:nvSpPr>
          <p:cNvPr id="74" name="Google Shape;74;p14"/>
          <p:cNvSpPr/>
          <p:nvPr/>
        </p:nvSpPr>
        <p:spPr>
          <a:xfrm>
            <a:off x="1020604" y="5651302"/>
            <a:ext cx="7102793" cy="36290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CFCBBF"/>
              </a:buClr>
              <a:buSzPts val="1750"/>
              <a:buFont typeface="Raleway"/>
              <a:buNone/>
            </a:pPr>
            <a:r>
              <a:rPr b="0" i="0" lang="en-US" sz="1750" u="none" cap="none" strike="noStrike">
                <a:solidFill>
                  <a:srgbClr val="CFCBBF"/>
                </a:solidFill>
                <a:latin typeface="Raleway"/>
                <a:ea typeface="Raleway"/>
                <a:cs typeface="Raleway"/>
                <a:sym typeface="Raleway"/>
              </a:rPr>
              <a:t>Finding meals that fit your diet takes effort</a:t>
            </a:r>
            <a:endParaRPr b="0" i="0" sz="1750" u="none" cap="none" strike="noStrike"/>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5"/>
          <p:cNvSpPr/>
          <p:nvPr/>
        </p:nvSpPr>
        <p:spPr>
          <a:xfrm>
            <a:off x="3402449" y="311825"/>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2E782"/>
              </a:buClr>
              <a:buSzPts val="2200"/>
              <a:buFont typeface="Prata"/>
              <a:buNone/>
            </a:pPr>
            <a:r>
              <a:rPr b="0" i="0" lang="en-US" sz="2200" u="none" cap="none" strike="noStrike">
                <a:solidFill>
                  <a:srgbClr val="F2E782"/>
                </a:solidFill>
                <a:latin typeface="Prata"/>
                <a:ea typeface="Prata"/>
                <a:cs typeface="Prata"/>
                <a:sym typeface="Prata"/>
              </a:rPr>
              <a:t>What is NutriAI?</a:t>
            </a:r>
            <a:endParaRPr b="0" i="0" sz="2200" u="none" cap="none" strike="noStrike"/>
          </a:p>
        </p:txBody>
      </p:sp>
      <p:pic>
        <p:nvPicPr>
          <p:cNvPr descr="preencoded.png" id="81" name="Google Shape;81;p15"/>
          <p:cNvPicPr preferRelativeResize="0"/>
          <p:nvPr/>
        </p:nvPicPr>
        <p:blipFill rotWithShape="1">
          <a:blip r:embed="rId3">
            <a:alphaModFix/>
          </a:blip>
          <a:srcRect b="0" l="0" r="0" t="0"/>
          <a:stretch/>
        </p:blipFill>
        <p:spPr>
          <a:xfrm>
            <a:off x="3402450" y="814874"/>
            <a:ext cx="4684924" cy="7140725"/>
          </a:xfrm>
          <a:prstGeom prst="rect">
            <a:avLst/>
          </a:prstGeom>
          <a:noFill/>
          <a:ln>
            <a:noFill/>
          </a:ln>
        </p:spPr>
      </p:pic>
      <p:sp>
        <p:nvSpPr>
          <p:cNvPr id="82" name="Google Shape;82;p15"/>
          <p:cNvSpPr/>
          <p:nvPr/>
        </p:nvSpPr>
        <p:spPr>
          <a:xfrm>
            <a:off x="8350198" y="887127"/>
            <a:ext cx="5935500" cy="315900"/>
          </a:xfrm>
          <a:prstGeom prst="rect">
            <a:avLst/>
          </a:prstGeom>
          <a:noFill/>
          <a:ln>
            <a:noFill/>
          </a:ln>
        </p:spPr>
        <p:txBody>
          <a:bodyPr anchorCtr="0" anchor="t" bIns="0" lIns="0" spcFirstLastPara="1" rIns="0" wrap="square" tIns="0">
            <a:noAutofit/>
          </a:bodyPr>
          <a:lstStyle/>
          <a:p>
            <a:pPr indent="0" lvl="0" marL="0" marR="0" rtl="0" algn="l">
              <a:lnSpc>
                <a:spcPct val="123529"/>
              </a:lnSpc>
              <a:spcBef>
                <a:spcPts val="0"/>
              </a:spcBef>
              <a:spcAft>
                <a:spcPts val="0"/>
              </a:spcAft>
              <a:buClr>
                <a:srgbClr val="CFCBBF"/>
              </a:buClr>
              <a:buSzPts val="1971"/>
              <a:buFont typeface="Raleway"/>
              <a:buNone/>
            </a:pPr>
            <a:r>
              <a:rPr b="0" i="0" lang="en-US" sz="1971" u="none" cap="none" strike="noStrike">
                <a:solidFill>
                  <a:srgbClr val="CFCBBF"/>
                </a:solidFill>
                <a:latin typeface="Raleway"/>
                <a:ea typeface="Raleway"/>
                <a:cs typeface="Raleway"/>
                <a:sym typeface="Raleway"/>
              </a:rPr>
              <a:t>A </a:t>
            </a:r>
            <a:r>
              <a:rPr b="1" i="0" lang="en-US" sz="1971" u="none" cap="none" strike="noStrike">
                <a:solidFill>
                  <a:srgbClr val="CFCBBF"/>
                </a:solidFill>
                <a:latin typeface="Raleway"/>
                <a:ea typeface="Raleway"/>
                <a:cs typeface="Raleway"/>
                <a:sym typeface="Raleway"/>
              </a:rPr>
              <a:t>mobile-first web app</a:t>
            </a:r>
            <a:r>
              <a:rPr b="0" i="0" lang="en-US" sz="1971" u="none" cap="none" strike="noStrike">
                <a:solidFill>
                  <a:srgbClr val="CFCBBF"/>
                </a:solidFill>
                <a:latin typeface="Raleway"/>
                <a:ea typeface="Raleway"/>
                <a:cs typeface="Raleway"/>
                <a:sym typeface="Raleway"/>
              </a:rPr>
              <a:t> with four core modules:</a:t>
            </a:r>
            <a:endParaRPr b="0" i="0" sz="1971" u="none" cap="none" strike="noStrike"/>
          </a:p>
        </p:txBody>
      </p:sp>
      <p:sp>
        <p:nvSpPr>
          <p:cNvPr id="83" name="Google Shape;83;p15"/>
          <p:cNvSpPr/>
          <p:nvPr/>
        </p:nvSpPr>
        <p:spPr>
          <a:xfrm>
            <a:off x="8350198" y="1350512"/>
            <a:ext cx="5935500" cy="1454400"/>
          </a:xfrm>
          <a:prstGeom prst="roundRect">
            <a:avLst>
              <a:gd fmla="val 11665" name="adj"/>
            </a:avLst>
          </a:prstGeom>
          <a:solidFill>
            <a:srgbClr val="1B1C1D"/>
          </a:solidFill>
          <a:ln cap="flat" cmpd="sng" w="35300">
            <a:solidFill>
              <a:srgbClr val="535455"/>
            </a:solidFill>
            <a:prstDash val="solid"/>
            <a:round/>
            <a:headEnd len="sm" w="sm" type="none"/>
            <a:tailEnd len="sm" w="sm" type="none"/>
          </a:ln>
        </p:spPr>
        <p:txBody>
          <a:bodyPr anchorCtr="0" anchor="ctr" bIns="212075" lIns="212075" spcFirstLastPara="1" rIns="212075" wrap="square" tIns="212075">
            <a:noAutofit/>
          </a:bodyPr>
          <a:lstStyle/>
          <a:p>
            <a:pPr indent="0" lvl="0" marL="0" rtl="0" algn="l">
              <a:spcBef>
                <a:spcPts val="0"/>
              </a:spcBef>
              <a:spcAft>
                <a:spcPts val="0"/>
              </a:spcAft>
              <a:buNone/>
            </a:pPr>
            <a:r>
              <a:t/>
            </a:r>
            <a:endParaRPr/>
          </a:p>
        </p:txBody>
      </p:sp>
      <p:pic>
        <p:nvPicPr>
          <p:cNvPr descr="preencoded.png" id="84" name="Google Shape;84;p15"/>
          <p:cNvPicPr preferRelativeResize="0"/>
          <p:nvPr/>
        </p:nvPicPr>
        <p:blipFill rotWithShape="1">
          <a:blip r:embed="rId4">
            <a:alphaModFix/>
          </a:blip>
          <a:srcRect b="0" l="0" r="0" t="0"/>
          <a:stretch/>
        </p:blipFill>
        <p:spPr>
          <a:xfrm>
            <a:off x="8314850" y="1350512"/>
            <a:ext cx="141390" cy="1454496"/>
          </a:xfrm>
          <a:prstGeom prst="rect">
            <a:avLst/>
          </a:prstGeom>
          <a:noFill/>
          <a:ln>
            <a:noFill/>
          </a:ln>
        </p:spPr>
      </p:pic>
      <p:sp>
        <p:nvSpPr>
          <p:cNvPr id="85" name="Google Shape;85;p15"/>
          <p:cNvSpPr/>
          <p:nvPr/>
        </p:nvSpPr>
        <p:spPr>
          <a:xfrm>
            <a:off x="8754485" y="1648756"/>
            <a:ext cx="3288000" cy="410700"/>
          </a:xfrm>
          <a:prstGeom prst="rect">
            <a:avLst/>
          </a:prstGeom>
          <a:noFill/>
          <a:ln>
            <a:noFill/>
          </a:ln>
        </p:spPr>
        <p:txBody>
          <a:bodyPr anchorCtr="0" anchor="t" bIns="0" lIns="0" spcFirstLastPara="1" rIns="0" wrap="square" tIns="0">
            <a:noAutofit/>
          </a:bodyPr>
          <a:lstStyle/>
          <a:p>
            <a:pPr indent="0" lvl="0" marL="0" marR="0" rtl="0" algn="l">
              <a:lnSpc>
                <a:spcPct val="122727"/>
              </a:lnSpc>
              <a:spcBef>
                <a:spcPts val="0"/>
              </a:spcBef>
              <a:spcAft>
                <a:spcPts val="0"/>
              </a:spcAft>
              <a:buClr>
                <a:srgbClr val="CFCBBF"/>
              </a:buClr>
              <a:buSzPts val="2551"/>
              <a:buFont typeface="Prata"/>
              <a:buNone/>
            </a:pPr>
            <a:r>
              <a:rPr b="0" i="0" lang="en-US" sz="2551" u="none" cap="none" strike="noStrike">
                <a:solidFill>
                  <a:srgbClr val="CFCBBF"/>
                </a:solidFill>
                <a:latin typeface="Prata"/>
                <a:ea typeface="Prata"/>
                <a:cs typeface="Prata"/>
                <a:sym typeface="Prata"/>
              </a:rPr>
              <a:t>User Profile</a:t>
            </a:r>
            <a:endParaRPr b="0" i="0" sz="2551" u="none" cap="none" strike="noStrike"/>
          </a:p>
        </p:txBody>
      </p:sp>
      <p:sp>
        <p:nvSpPr>
          <p:cNvPr id="86" name="Google Shape;86;p15"/>
          <p:cNvSpPr/>
          <p:nvPr/>
        </p:nvSpPr>
        <p:spPr>
          <a:xfrm>
            <a:off x="8754485" y="2191122"/>
            <a:ext cx="5232900" cy="315900"/>
          </a:xfrm>
          <a:prstGeom prst="rect">
            <a:avLst/>
          </a:prstGeom>
          <a:noFill/>
          <a:ln>
            <a:noFill/>
          </a:ln>
        </p:spPr>
        <p:txBody>
          <a:bodyPr anchorCtr="0" anchor="t" bIns="0" lIns="0" spcFirstLastPara="1" rIns="0" wrap="square" tIns="0">
            <a:noAutofit/>
          </a:bodyPr>
          <a:lstStyle/>
          <a:p>
            <a:pPr indent="0" lvl="0" marL="0" marR="0" rtl="0" algn="l">
              <a:lnSpc>
                <a:spcPct val="123529"/>
              </a:lnSpc>
              <a:spcBef>
                <a:spcPts val="0"/>
              </a:spcBef>
              <a:spcAft>
                <a:spcPts val="0"/>
              </a:spcAft>
              <a:buClr>
                <a:srgbClr val="CFCBBF"/>
              </a:buClr>
              <a:buSzPts val="1971"/>
              <a:buFont typeface="Raleway"/>
              <a:buNone/>
            </a:pPr>
            <a:r>
              <a:rPr b="0" i="0" lang="en-US" sz="1971" u="none" cap="none" strike="noStrike">
                <a:solidFill>
                  <a:srgbClr val="CFCBBF"/>
                </a:solidFill>
                <a:latin typeface="Raleway"/>
                <a:ea typeface="Raleway"/>
                <a:cs typeface="Raleway"/>
                <a:sym typeface="Raleway"/>
              </a:rPr>
              <a:t>Goals, age, weight</a:t>
            </a:r>
            <a:endParaRPr b="0" i="0" sz="1971" u="none" cap="none" strike="noStrike"/>
          </a:p>
        </p:txBody>
      </p:sp>
      <p:sp>
        <p:nvSpPr>
          <p:cNvPr id="87" name="Google Shape;87;p15"/>
          <p:cNvSpPr/>
          <p:nvPr/>
        </p:nvSpPr>
        <p:spPr>
          <a:xfrm>
            <a:off x="8350198" y="2936460"/>
            <a:ext cx="5935500" cy="1454400"/>
          </a:xfrm>
          <a:prstGeom prst="roundRect">
            <a:avLst>
              <a:gd fmla="val 11665" name="adj"/>
            </a:avLst>
          </a:prstGeom>
          <a:solidFill>
            <a:srgbClr val="1B1C1D"/>
          </a:solidFill>
          <a:ln cap="flat" cmpd="sng" w="35300">
            <a:solidFill>
              <a:srgbClr val="535455"/>
            </a:solidFill>
            <a:prstDash val="solid"/>
            <a:round/>
            <a:headEnd len="sm" w="sm" type="none"/>
            <a:tailEnd len="sm" w="sm" type="none"/>
          </a:ln>
        </p:spPr>
        <p:txBody>
          <a:bodyPr anchorCtr="0" anchor="ctr" bIns="212075" lIns="212075" spcFirstLastPara="1" rIns="212075" wrap="square" tIns="212075">
            <a:noAutofit/>
          </a:bodyPr>
          <a:lstStyle/>
          <a:p>
            <a:pPr indent="0" lvl="0" marL="0" rtl="0" algn="l">
              <a:spcBef>
                <a:spcPts val="0"/>
              </a:spcBef>
              <a:spcAft>
                <a:spcPts val="0"/>
              </a:spcAft>
              <a:buNone/>
            </a:pPr>
            <a:r>
              <a:t/>
            </a:r>
            <a:endParaRPr/>
          </a:p>
        </p:txBody>
      </p:sp>
      <p:pic>
        <p:nvPicPr>
          <p:cNvPr descr="preencoded.png" id="88" name="Google Shape;88;p15"/>
          <p:cNvPicPr preferRelativeResize="0"/>
          <p:nvPr/>
        </p:nvPicPr>
        <p:blipFill rotWithShape="1">
          <a:blip r:embed="rId4">
            <a:alphaModFix/>
          </a:blip>
          <a:srcRect b="0" l="0" r="0" t="0"/>
          <a:stretch/>
        </p:blipFill>
        <p:spPr>
          <a:xfrm>
            <a:off x="8314850" y="2936460"/>
            <a:ext cx="141390" cy="1454496"/>
          </a:xfrm>
          <a:prstGeom prst="rect">
            <a:avLst/>
          </a:prstGeom>
          <a:noFill/>
          <a:ln>
            <a:noFill/>
          </a:ln>
        </p:spPr>
      </p:pic>
      <p:sp>
        <p:nvSpPr>
          <p:cNvPr id="89" name="Google Shape;89;p15"/>
          <p:cNvSpPr/>
          <p:nvPr/>
        </p:nvSpPr>
        <p:spPr>
          <a:xfrm>
            <a:off x="8754485" y="3234704"/>
            <a:ext cx="3288000" cy="410700"/>
          </a:xfrm>
          <a:prstGeom prst="rect">
            <a:avLst/>
          </a:prstGeom>
          <a:noFill/>
          <a:ln>
            <a:noFill/>
          </a:ln>
        </p:spPr>
        <p:txBody>
          <a:bodyPr anchorCtr="0" anchor="t" bIns="0" lIns="0" spcFirstLastPara="1" rIns="0" wrap="square" tIns="0">
            <a:noAutofit/>
          </a:bodyPr>
          <a:lstStyle/>
          <a:p>
            <a:pPr indent="0" lvl="0" marL="0" marR="0" rtl="0" algn="l">
              <a:lnSpc>
                <a:spcPct val="122727"/>
              </a:lnSpc>
              <a:spcBef>
                <a:spcPts val="0"/>
              </a:spcBef>
              <a:spcAft>
                <a:spcPts val="0"/>
              </a:spcAft>
              <a:buClr>
                <a:srgbClr val="CFCBBF"/>
              </a:buClr>
              <a:buSzPts val="2551"/>
              <a:buFont typeface="Prata"/>
              <a:buNone/>
            </a:pPr>
            <a:r>
              <a:rPr b="0" i="0" lang="en-US" sz="2551" u="none" cap="none" strike="noStrike">
                <a:solidFill>
                  <a:srgbClr val="CFCBBF"/>
                </a:solidFill>
                <a:latin typeface="Prata"/>
                <a:ea typeface="Prata"/>
                <a:cs typeface="Prata"/>
                <a:sym typeface="Prata"/>
              </a:rPr>
              <a:t>Log a Meal</a:t>
            </a:r>
            <a:endParaRPr b="0" i="0" sz="2551" u="none" cap="none" strike="noStrike"/>
          </a:p>
        </p:txBody>
      </p:sp>
      <p:sp>
        <p:nvSpPr>
          <p:cNvPr id="90" name="Google Shape;90;p15"/>
          <p:cNvSpPr/>
          <p:nvPr/>
        </p:nvSpPr>
        <p:spPr>
          <a:xfrm>
            <a:off x="8754485" y="3777069"/>
            <a:ext cx="5232900" cy="315900"/>
          </a:xfrm>
          <a:prstGeom prst="rect">
            <a:avLst/>
          </a:prstGeom>
          <a:noFill/>
          <a:ln>
            <a:noFill/>
          </a:ln>
        </p:spPr>
        <p:txBody>
          <a:bodyPr anchorCtr="0" anchor="t" bIns="0" lIns="0" spcFirstLastPara="1" rIns="0" wrap="square" tIns="0">
            <a:noAutofit/>
          </a:bodyPr>
          <a:lstStyle/>
          <a:p>
            <a:pPr indent="0" lvl="0" marL="0" marR="0" rtl="0" algn="l">
              <a:lnSpc>
                <a:spcPct val="123529"/>
              </a:lnSpc>
              <a:spcBef>
                <a:spcPts val="0"/>
              </a:spcBef>
              <a:spcAft>
                <a:spcPts val="0"/>
              </a:spcAft>
              <a:buClr>
                <a:srgbClr val="CFCBBF"/>
              </a:buClr>
              <a:buSzPts val="1971"/>
              <a:buFont typeface="Raleway"/>
              <a:buNone/>
            </a:pPr>
            <a:r>
              <a:rPr b="0" i="0" lang="en-US" sz="1971" u="none" cap="none" strike="noStrike">
                <a:solidFill>
                  <a:srgbClr val="CFCBBF"/>
                </a:solidFill>
                <a:latin typeface="Raleway"/>
                <a:ea typeface="Raleway"/>
                <a:cs typeface="Raleway"/>
                <a:sym typeface="Raleway"/>
              </a:rPr>
              <a:t>Manual or AI camera</a:t>
            </a:r>
            <a:endParaRPr b="0" i="0" sz="1971" u="none" cap="none" strike="noStrike"/>
          </a:p>
        </p:txBody>
      </p:sp>
      <p:sp>
        <p:nvSpPr>
          <p:cNvPr id="91" name="Google Shape;91;p15"/>
          <p:cNvSpPr/>
          <p:nvPr/>
        </p:nvSpPr>
        <p:spPr>
          <a:xfrm>
            <a:off x="8350198" y="4522407"/>
            <a:ext cx="5935500" cy="1454400"/>
          </a:xfrm>
          <a:prstGeom prst="roundRect">
            <a:avLst>
              <a:gd fmla="val 11665" name="adj"/>
            </a:avLst>
          </a:prstGeom>
          <a:solidFill>
            <a:srgbClr val="1B1C1D"/>
          </a:solidFill>
          <a:ln cap="flat" cmpd="sng" w="35300">
            <a:solidFill>
              <a:srgbClr val="535455"/>
            </a:solidFill>
            <a:prstDash val="solid"/>
            <a:round/>
            <a:headEnd len="sm" w="sm" type="none"/>
            <a:tailEnd len="sm" w="sm" type="none"/>
          </a:ln>
        </p:spPr>
        <p:txBody>
          <a:bodyPr anchorCtr="0" anchor="ctr" bIns="212075" lIns="212075" spcFirstLastPara="1" rIns="212075" wrap="square" tIns="212075">
            <a:noAutofit/>
          </a:bodyPr>
          <a:lstStyle/>
          <a:p>
            <a:pPr indent="0" lvl="0" marL="0" rtl="0" algn="l">
              <a:spcBef>
                <a:spcPts val="0"/>
              </a:spcBef>
              <a:spcAft>
                <a:spcPts val="0"/>
              </a:spcAft>
              <a:buNone/>
            </a:pPr>
            <a:r>
              <a:t/>
            </a:r>
            <a:endParaRPr/>
          </a:p>
        </p:txBody>
      </p:sp>
      <p:pic>
        <p:nvPicPr>
          <p:cNvPr descr="preencoded.png" id="92" name="Google Shape;92;p15"/>
          <p:cNvPicPr preferRelativeResize="0"/>
          <p:nvPr/>
        </p:nvPicPr>
        <p:blipFill rotWithShape="1">
          <a:blip r:embed="rId4">
            <a:alphaModFix/>
          </a:blip>
          <a:srcRect b="0" l="0" r="0" t="0"/>
          <a:stretch/>
        </p:blipFill>
        <p:spPr>
          <a:xfrm>
            <a:off x="8314850" y="4522407"/>
            <a:ext cx="141390" cy="1454496"/>
          </a:xfrm>
          <a:prstGeom prst="rect">
            <a:avLst/>
          </a:prstGeom>
          <a:noFill/>
          <a:ln>
            <a:noFill/>
          </a:ln>
        </p:spPr>
      </p:pic>
      <p:sp>
        <p:nvSpPr>
          <p:cNvPr id="93" name="Google Shape;93;p15"/>
          <p:cNvSpPr/>
          <p:nvPr/>
        </p:nvSpPr>
        <p:spPr>
          <a:xfrm>
            <a:off x="8754485" y="4820651"/>
            <a:ext cx="3288000" cy="410700"/>
          </a:xfrm>
          <a:prstGeom prst="rect">
            <a:avLst/>
          </a:prstGeom>
          <a:noFill/>
          <a:ln>
            <a:noFill/>
          </a:ln>
        </p:spPr>
        <p:txBody>
          <a:bodyPr anchorCtr="0" anchor="t" bIns="0" lIns="0" spcFirstLastPara="1" rIns="0" wrap="square" tIns="0">
            <a:noAutofit/>
          </a:bodyPr>
          <a:lstStyle/>
          <a:p>
            <a:pPr indent="0" lvl="0" marL="0" marR="0" rtl="0" algn="l">
              <a:lnSpc>
                <a:spcPct val="122727"/>
              </a:lnSpc>
              <a:spcBef>
                <a:spcPts val="0"/>
              </a:spcBef>
              <a:spcAft>
                <a:spcPts val="0"/>
              </a:spcAft>
              <a:buClr>
                <a:srgbClr val="CFCBBF"/>
              </a:buClr>
              <a:buSzPts val="2551"/>
              <a:buFont typeface="Prata"/>
              <a:buNone/>
            </a:pPr>
            <a:r>
              <a:rPr b="0" i="0" lang="en-US" sz="2551" u="none" cap="none" strike="noStrike">
                <a:solidFill>
                  <a:srgbClr val="CFCBBF"/>
                </a:solidFill>
                <a:latin typeface="Prata"/>
                <a:ea typeface="Prata"/>
                <a:cs typeface="Prata"/>
                <a:sym typeface="Prata"/>
              </a:rPr>
              <a:t>Get Recipes</a:t>
            </a:r>
            <a:endParaRPr b="0" i="0" sz="2551" u="none" cap="none" strike="noStrike"/>
          </a:p>
        </p:txBody>
      </p:sp>
      <p:sp>
        <p:nvSpPr>
          <p:cNvPr id="94" name="Google Shape;94;p15"/>
          <p:cNvSpPr/>
          <p:nvPr/>
        </p:nvSpPr>
        <p:spPr>
          <a:xfrm>
            <a:off x="8754485" y="5363016"/>
            <a:ext cx="5232900" cy="315900"/>
          </a:xfrm>
          <a:prstGeom prst="rect">
            <a:avLst/>
          </a:prstGeom>
          <a:noFill/>
          <a:ln>
            <a:noFill/>
          </a:ln>
        </p:spPr>
        <p:txBody>
          <a:bodyPr anchorCtr="0" anchor="t" bIns="0" lIns="0" spcFirstLastPara="1" rIns="0" wrap="square" tIns="0">
            <a:noAutofit/>
          </a:bodyPr>
          <a:lstStyle/>
          <a:p>
            <a:pPr indent="0" lvl="0" marL="0" marR="0" rtl="0" algn="l">
              <a:lnSpc>
                <a:spcPct val="123529"/>
              </a:lnSpc>
              <a:spcBef>
                <a:spcPts val="0"/>
              </a:spcBef>
              <a:spcAft>
                <a:spcPts val="0"/>
              </a:spcAft>
              <a:buClr>
                <a:srgbClr val="CFCBBF"/>
              </a:buClr>
              <a:buSzPts val="1971"/>
              <a:buFont typeface="Raleway"/>
              <a:buNone/>
            </a:pPr>
            <a:r>
              <a:rPr b="0" i="0" lang="en-US" sz="1971" u="none" cap="none" strike="noStrike">
                <a:solidFill>
                  <a:srgbClr val="CFCBBF"/>
                </a:solidFill>
                <a:latin typeface="Raleway"/>
                <a:ea typeface="Raleway"/>
                <a:cs typeface="Raleway"/>
                <a:sym typeface="Raleway"/>
              </a:rPr>
              <a:t>Filtered by diet</a:t>
            </a:r>
            <a:r>
              <a:rPr lang="en-US" sz="1971">
                <a:solidFill>
                  <a:srgbClr val="CFCBBF"/>
                </a:solidFill>
                <a:latin typeface="Raleway"/>
                <a:ea typeface="Raleway"/>
                <a:cs typeface="Raleway"/>
                <a:sym typeface="Raleway"/>
              </a:rPr>
              <a:t>, </a:t>
            </a:r>
            <a:r>
              <a:rPr b="0" i="0" lang="en-US" sz="1971" u="none" cap="none" strike="noStrike">
                <a:solidFill>
                  <a:srgbClr val="CFCBBF"/>
                </a:solidFill>
                <a:latin typeface="Raleway"/>
                <a:ea typeface="Raleway"/>
                <a:cs typeface="Raleway"/>
                <a:sym typeface="Raleway"/>
              </a:rPr>
              <a:t>calories, and cuisine</a:t>
            </a:r>
            <a:endParaRPr b="0" i="0" sz="1971" u="none" cap="none" strike="noStrike"/>
          </a:p>
        </p:txBody>
      </p:sp>
      <p:sp>
        <p:nvSpPr>
          <p:cNvPr id="95" name="Google Shape;95;p15"/>
          <p:cNvSpPr/>
          <p:nvPr/>
        </p:nvSpPr>
        <p:spPr>
          <a:xfrm>
            <a:off x="8350198" y="6108354"/>
            <a:ext cx="5935500" cy="1454400"/>
          </a:xfrm>
          <a:prstGeom prst="roundRect">
            <a:avLst>
              <a:gd fmla="val 11665" name="adj"/>
            </a:avLst>
          </a:prstGeom>
          <a:solidFill>
            <a:srgbClr val="1B1C1D"/>
          </a:solidFill>
          <a:ln cap="flat" cmpd="sng" w="35300">
            <a:solidFill>
              <a:srgbClr val="535455"/>
            </a:solidFill>
            <a:prstDash val="solid"/>
            <a:round/>
            <a:headEnd len="sm" w="sm" type="none"/>
            <a:tailEnd len="sm" w="sm" type="none"/>
          </a:ln>
        </p:spPr>
        <p:txBody>
          <a:bodyPr anchorCtr="0" anchor="ctr" bIns="212075" lIns="212075" spcFirstLastPara="1" rIns="212075" wrap="square" tIns="212075">
            <a:noAutofit/>
          </a:bodyPr>
          <a:lstStyle/>
          <a:p>
            <a:pPr indent="0" lvl="0" marL="0" rtl="0" algn="l">
              <a:spcBef>
                <a:spcPts val="0"/>
              </a:spcBef>
              <a:spcAft>
                <a:spcPts val="0"/>
              </a:spcAft>
              <a:buNone/>
            </a:pPr>
            <a:r>
              <a:t/>
            </a:r>
            <a:endParaRPr/>
          </a:p>
        </p:txBody>
      </p:sp>
      <p:pic>
        <p:nvPicPr>
          <p:cNvPr descr="preencoded.png" id="96" name="Google Shape;96;p15"/>
          <p:cNvPicPr preferRelativeResize="0"/>
          <p:nvPr/>
        </p:nvPicPr>
        <p:blipFill rotWithShape="1">
          <a:blip r:embed="rId4">
            <a:alphaModFix/>
          </a:blip>
          <a:srcRect b="0" l="0" r="0" t="0"/>
          <a:stretch/>
        </p:blipFill>
        <p:spPr>
          <a:xfrm>
            <a:off x="8314850" y="6108354"/>
            <a:ext cx="141390" cy="1454496"/>
          </a:xfrm>
          <a:prstGeom prst="rect">
            <a:avLst/>
          </a:prstGeom>
          <a:noFill/>
          <a:ln>
            <a:noFill/>
          </a:ln>
        </p:spPr>
      </p:pic>
      <p:sp>
        <p:nvSpPr>
          <p:cNvPr id="97" name="Google Shape;97;p15"/>
          <p:cNvSpPr/>
          <p:nvPr/>
        </p:nvSpPr>
        <p:spPr>
          <a:xfrm>
            <a:off x="8754485" y="6406598"/>
            <a:ext cx="3288000" cy="410700"/>
          </a:xfrm>
          <a:prstGeom prst="rect">
            <a:avLst/>
          </a:prstGeom>
          <a:noFill/>
          <a:ln>
            <a:noFill/>
          </a:ln>
        </p:spPr>
        <p:txBody>
          <a:bodyPr anchorCtr="0" anchor="t" bIns="0" lIns="0" spcFirstLastPara="1" rIns="0" wrap="square" tIns="0">
            <a:noAutofit/>
          </a:bodyPr>
          <a:lstStyle/>
          <a:p>
            <a:pPr indent="0" lvl="0" marL="0" marR="0" rtl="0" algn="l">
              <a:lnSpc>
                <a:spcPct val="122727"/>
              </a:lnSpc>
              <a:spcBef>
                <a:spcPts val="0"/>
              </a:spcBef>
              <a:spcAft>
                <a:spcPts val="0"/>
              </a:spcAft>
              <a:buClr>
                <a:srgbClr val="CFCBBF"/>
              </a:buClr>
              <a:buSzPts val="2551"/>
              <a:buFont typeface="Prata"/>
              <a:buNone/>
            </a:pPr>
            <a:r>
              <a:rPr b="0" i="0" lang="en-US" sz="2551" u="none" cap="none" strike="noStrike">
                <a:solidFill>
                  <a:srgbClr val="CFCBBF"/>
                </a:solidFill>
                <a:latin typeface="Prata"/>
                <a:ea typeface="Prata"/>
                <a:cs typeface="Prata"/>
                <a:sym typeface="Prata"/>
              </a:rPr>
              <a:t>Get Advice</a:t>
            </a:r>
            <a:endParaRPr b="0" i="0" sz="2551" u="none" cap="none" strike="noStrike"/>
          </a:p>
        </p:txBody>
      </p:sp>
      <p:sp>
        <p:nvSpPr>
          <p:cNvPr id="98" name="Google Shape;98;p15"/>
          <p:cNvSpPr/>
          <p:nvPr/>
        </p:nvSpPr>
        <p:spPr>
          <a:xfrm>
            <a:off x="8754485" y="6948964"/>
            <a:ext cx="5232900" cy="315900"/>
          </a:xfrm>
          <a:prstGeom prst="rect">
            <a:avLst/>
          </a:prstGeom>
          <a:noFill/>
          <a:ln>
            <a:noFill/>
          </a:ln>
        </p:spPr>
        <p:txBody>
          <a:bodyPr anchorCtr="0" anchor="t" bIns="0" lIns="0" spcFirstLastPara="1" rIns="0" wrap="square" tIns="0">
            <a:noAutofit/>
          </a:bodyPr>
          <a:lstStyle/>
          <a:p>
            <a:pPr indent="0" lvl="0" marL="0" marR="0" rtl="0" algn="l">
              <a:lnSpc>
                <a:spcPct val="123529"/>
              </a:lnSpc>
              <a:spcBef>
                <a:spcPts val="0"/>
              </a:spcBef>
              <a:spcAft>
                <a:spcPts val="0"/>
              </a:spcAft>
              <a:buClr>
                <a:srgbClr val="CFCBBF"/>
              </a:buClr>
              <a:buSzPts val="1971"/>
              <a:buFont typeface="Raleway"/>
              <a:buNone/>
            </a:pPr>
            <a:r>
              <a:rPr b="0" i="0" lang="en-US" sz="1971" u="none" cap="none" strike="noStrike">
                <a:solidFill>
                  <a:srgbClr val="CFCBBF"/>
                </a:solidFill>
                <a:latin typeface="Raleway"/>
                <a:ea typeface="Raleway"/>
                <a:cs typeface="Raleway"/>
                <a:sym typeface="Raleway"/>
              </a:rPr>
              <a:t>Smart, personalized tips</a:t>
            </a:r>
            <a:endParaRPr b="0" i="0" sz="1971" u="none" cap="none" strike="noStrike"/>
          </a:p>
        </p:txBody>
      </p:sp>
      <p:pic>
        <p:nvPicPr>
          <p:cNvPr id="99" name="Google Shape;99;p15" title="Screenshot 2026-04-27 at 1.44.32 PM.png"/>
          <p:cNvPicPr preferRelativeResize="0"/>
          <p:nvPr/>
        </p:nvPicPr>
        <p:blipFill>
          <a:blip r:embed="rId5">
            <a:alphaModFix/>
          </a:blip>
          <a:stretch>
            <a:fillRect/>
          </a:stretch>
        </p:blipFill>
        <p:spPr>
          <a:xfrm>
            <a:off x="12668250" y="7562853"/>
            <a:ext cx="1962150" cy="6667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6"/>
          <p:cNvSpPr/>
          <p:nvPr/>
        </p:nvSpPr>
        <p:spPr>
          <a:xfrm>
            <a:off x="834628" y="524708"/>
            <a:ext cx="4695944" cy="586978"/>
          </a:xfrm>
          <a:prstGeom prst="rect">
            <a:avLst/>
          </a:prstGeom>
          <a:noFill/>
          <a:ln>
            <a:noFill/>
          </a:ln>
        </p:spPr>
        <p:txBody>
          <a:bodyPr anchorCtr="0" anchor="t" bIns="0" lIns="0" spcFirstLastPara="1" rIns="0" wrap="square" tIns="0">
            <a:noAutofit/>
          </a:bodyPr>
          <a:lstStyle/>
          <a:p>
            <a:pPr indent="0" lvl="0" marL="0" marR="0" rtl="0" algn="l">
              <a:lnSpc>
                <a:spcPct val="126027"/>
              </a:lnSpc>
              <a:spcBef>
                <a:spcPts val="0"/>
              </a:spcBef>
              <a:spcAft>
                <a:spcPts val="0"/>
              </a:spcAft>
              <a:buClr>
                <a:srgbClr val="F2E782"/>
              </a:buClr>
              <a:buSzPts val="3650"/>
              <a:buFont typeface="Prata"/>
              <a:buNone/>
            </a:pPr>
            <a:r>
              <a:rPr b="0" i="0" lang="en-US" sz="3650" u="none" cap="none" strike="noStrike">
                <a:solidFill>
                  <a:srgbClr val="F2E782"/>
                </a:solidFill>
                <a:latin typeface="Prata"/>
                <a:ea typeface="Prata"/>
                <a:cs typeface="Prata"/>
                <a:sym typeface="Prata"/>
              </a:rPr>
              <a:t>User Flow</a:t>
            </a:r>
            <a:endParaRPr b="0" i="0" sz="3650" u="none" cap="none" strike="noStrike"/>
          </a:p>
        </p:txBody>
      </p:sp>
      <p:pic>
        <p:nvPicPr>
          <p:cNvPr descr="preencoded.png" id="106" name="Google Shape;106;p16"/>
          <p:cNvPicPr preferRelativeResize="0"/>
          <p:nvPr/>
        </p:nvPicPr>
        <p:blipFill rotWithShape="1">
          <a:blip r:embed="rId3">
            <a:alphaModFix/>
          </a:blip>
          <a:srcRect b="0" l="0" r="0" t="0"/>
          <a:stretch/>
        </p:blipFill>
        <p:spPr>
          <a:xfrm>
            <a:off x="834628" y="1422797"/>
            <a:ext cx="12961025" cy="5832396"/>
          </a:xfrm>
          <a:prstGeom prst="rect">
            <a:avLst/>
          </a:prstGeom>
          <a:noFill/>
          <a:ln>
            <a:noFill/>
          </a:ln>
        </p:spPr>
      </p:pic>
      <p:sp>
        <p:nvSpPr>
          <p:cNvPr id="107" name="Google Shape;107;p16"/>
          <p:cNvSpPr/>
          <p:nvPr/>
        </p:nvSpPr>
        <p:spPr>
          <a:xfrm>
            <a:off x="2787011" y="1689180"/>
            <a:ext cx="2268154" cy="350504"/>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CFCBBF"/>
              </a:buClr>
              <a:buSzPts val="2200"/>
              <a:buFont typeface="Prata"/>
              <a:buNone/>
            </a:pPr>
            <a:r>
              <a:rPr b="0" i="0" lang="en-US" sz="2200" u="none" cap="none" strike="noStrike">
                <a:solidFill>
                  <a:srgbClr val="CFCBBF"/>
                </a:solidFill>
                <a:latin typeface="Prata"/>
                <a:ea typeface="Prata"/>
                <a:cs typeface="Prata"/>
                <a:sym typeface="Prata"/>
              </a:rPr>
              <a:t>Sign Up</a:t>
            </a:r>
            <a:endParaRPr b="0" i="0" sz="2200" u="none" cap="none" strike="noStrike"/>
          </a:p>
        </p:txBody>
      </p:sp>
      <p:sp>
        <p:nvSpPr>
          <p:cNvPr id="108" name="Google Shape;108;p16"/>
          <p:cNvSpPr/>
          <p:nvPr/>
        </p:nvSpPr>
        <p:spPr>
          <a:xfrm>
            <a:off x="2787011" y="2139384"/>
            <a:ext cx="2268154" cy="512516"/>
          </a:xfrm>
          <a:prstGeom prst="rect">
            <a:avLst/>
          </a:prstGeom>
          <a:noFill/>
          <a:ln>
            <a:noFill/>
          </a:ln>
        </p:spPr>
        <p:txBody>
          <a:bodyPr anchorCtr="0" anchor="t" bIns="0" lIns="0" spcFirstLastPara="1" rIns="0" wrap="square" tIns="0">
            <a:noAutofit/>
          </a:bodyPr>
          <a:lstStyle/>
          <a:p>
            <a:pPr indent="0" lvl="0" marL="0" marR="0" rtl="0" algn="ctr">
              <a:lnSpc>
                <a:spcPct val="114285"/>
              </a:lnSpc>
              <a:spcBef>
                <a:spcPts val="0"/>
              </a:spcBef>
              <a:spcAft>
                <a:spcPts val="0"/>
              </a:spcAft>
              <a:buClr>
                <a:srgbClr val="CFCBBF"/>
              </a:buClr>
              <a:buSzPts val="1750"/>
              <a:buFont typeface="Raleway"/>
              <a:buNone/>
            </a:pPr>
            <a:r>
              <a:rPr b="0" i="0" lang="en-US" sz="1750" u="none" cap="none" strike="noStrike">
                <a:solidFill>
                  <a:srgbClr val="CFCBBF"/>
                </a:solidFill>
                <a:latin typeface="Raleway"/>
                <a:ea typeface="Raleway"/>
                <a:cs typeface="Raleway"/>
                <a:sym typeface="Raleway"/>
              </a:rPr>
              <a:t>Create an account quickly</a:t>
            </a:r>
            <a:endParaRPr b="0" i="0" sz="1750" u="none" cap="none" strike="noStrike"/>
          </a:p>
        </p:txBody>
      </p:sp>
      <p:pic>
        <p:nvPicPr>
          <p:cNvPr descr="preencoded.png" id="109" name="Google Shape;109;p16"/>
          <p:cNvPicPr preferRelativeResize="0"/>
          <p:nvPr/>
        </p:nvPicPr>
        <p:blipFill rotWithShape="1">
          <a:blip r:embed="rId4">
            <a:alphaModFix/>
          </a:blip>
          <a:srcRect b="0" l="0" r="0" t="0"/>
          <a:stretch/>
        </p:blipFill>
        <p:spPr>
          <a:xfrm>
            <a:off x="3676124" y="3253988"/>
            <a:ext cx="502390" cy="502390"/>
          </a:xfrm>
          <a:prstGeom prst="rect">
            <a:avLst/>
          </a:prstGeom>
          <a:noFill/>
          <a:ln>
            <a:noFill/>
          </a:ln>
        </p:spPr>
      </p:pic>
      <p:sp>
        <p:nvSpPr>
          <p:cNvPr id="110" name="Google Shape;110;p16"/>
          <p:cNvSpPr/>
          <p:nvPr/>
        </p:nvSpPr>
        <p:spPr>
          <a:xfrm>
            <a:off x="5030240" y="6063477"/>
            <a:ext cx="2280616" cy="350505"/>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CFCBBF"/>
              </a:buClr>
              <a:buSzPts val="2200"/>
              <a:buFont typeface="Prata"/>
              <a:buNone/>
            </a:pPr>
            <a:r>
              <a:rPr b="0" i="0" lang="en-US" sz="2200" u="none" cap="none" strike="noStrike">
                <a:solidFill>
                  <a:srgbClr val="CFCBBF"/>
                </a:solidFill>
                <a:latin typeface="Prata"/>
                <a:ea typeface="Prata"/>
                <a:cs typeface="Prata"/>
                <a:sym typeface="Prata"/>
              </a:rPr>
              <a:t>Set Goals</a:t>
            </a:r>
            <a:endParaRPr b="0" i="0" sz="2200" u="none" cap="none" strike="noStrike"/>
          </a:p>
        </p:txBody>
      </p:sp>
      <p:sp>
        <p:nvSpPr>
          <p:cNvPr id="111" name="Google Shape;111;p16"/>
          <p:cNvSpPr/>
          <p:nvPr/>
        </p:nvSpPr>
        <p:spPr>
          <a:xfrm>
            <a:off x="5030240" y="6513681"/>
            <a:ext cx="2280616" cy="512516"/>
          </a:xfrm>
          <a:prstGeom prst="rect">
            <a:avLst/>
          </a:prstGeom>
          <a:noFill/>
          <a:ln>
            <a:noFill/>
          </a:ln>
        </p:spPr>
        <p:txBody>
          <a:bodyPr anchorCtr="0" anchor="t" bIns="0" lIns="0" spcFirstLastPara="1" rIns="0" wrap="square" tIns="0">
            <a:noAutofit/>
          </a:bodyPr>
          <a:lstStyle/>
          <a:p>
            <a:pPr indent="0" lvl="0" marL="0" marR="0" rtl="0" algn="ctr">
              <a:lnSpc>
                <a:spcPct val="114285"/>
              </a:lnSpc>
              <a:spcBef>
                <a:spcPts val="0"/>
              </a:spcBef>
              <a:spcAft>
                <a:spcPts val="0"/>
              </a:spcAft>
              <a:buClr>
                <a:srgbClr val="CFCBBF"/>
              </a:buClr>
              <a:buSzPts val="1750"/>
              <a:buFont typeface="Raleway"/>
              <a:buNone/>
            </a:pPr>
            <a:r>
              <a:rPr b="0" i="0" lang="en-US" sz="1750" u="none" cap="none" strike="noStrike">
                <a:solidFill>
                  <a:srgbClr val="CFCBBF"/>
                </a:solidFill>
                <a:latin typeface="Raleway"/>
                <a:ea typeface="Raleway"/>
                <a:cs typeface="Raleway"/>
                <a:sym typeface="Raleway"/>
              </a:rPr>
              <a:t>Choose targets and preferences</a:t>
            </a:r>
            <a:endParaRPr b="0" i="0" sz="1750" u="none" cap="none" strike="noStrike"/>
          </a:p>
        </p:txBody>
      </p:sp>
      <p:pic>
        <p:nvPicPr>
          <p:cNvPr descr="preencoded.png" id="112" name="Google Shape;112;p16"/>
          <p:cNvPicPr preferRelativeResize="0"/>
          <p:nvPr/>
        </p:nvPicPr>
        <p:blipFill rotWithShape="1">
          <a:blip r:embed="rId5">
            <a:alphaModFix/>
          </a:blip>
          <a:srcRect b="0" l="0" r="0" t="0"/>
          <a:stretch/>
        </p:blipFill>
        <p:spPr>
          <a:xfrm>
            <a:off x="5919354" y="5085959"/>
            <a:ext cx="502390" cy="502390"/>
          </a:xfrm>
          <a:prstGeom prst="rect">
            <a:avLst/>
          </a:prstGeom>
          <a:noFill/>
          <a:ln>
            <a:noFill/>
          </a:ln>
        </p:spPr>
      </p:pic>
      <p:sp>
        <p:nvSpPr>
          <p:cNvPr id="113" name="Google Shape;113;p16"/>
          <p:cNvSpPr/>
          <p:nvPr/>
        </p:nvSpPr>
        <p:spPr>
          <a:xfrm>
            <a:off x="7248545" y="1645562"/>
            <a:ext cx="2268154" cy="350505"/>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CFCBBF"/>
              </a:buClr>
              <a:buSzPts val="2200"/>
              <a:buFont typeface="Prata"/>
              <a:buNone/>
            </a:pPr>
            <a:r>
              <a:rPr b="0" i="0" lang="en-US" sz="2200" u="none" cap="none" strike="noStrike">
                <a:solidFill>
                  <a:srgbClr val="CFCBBF"/>
                </a:solidFill>
                <a:latin typeface="Prata"/>
                <a:ea typeface="Prata"/>
                <a:cs typeface="Prata"/>
                <a:sym typeface="Prata"/>
              </a:rPr>
              <a:t>Log Food</a:t>
            </a:r>
            <a:endParaRPr b="0" i="0" sz="2200" u="none" cap="none" strike="noStrike"/>
          </a:p>
        </p:txBody>
      </p:sp>
      <p:sp>
        <p:nvSpPr>
          <p:cNvPr id="114" name="Google Shape;114;p16"/>
          <p:cNvSpPr/>
          <p:nvPr/>
        </p:nvSpPr>
        <p:spPr>
          <a:xfrm>
            <a:off x="7248545" y="2095766"/>
            <a:ext cx="2268154" cy="512516"/>
          </a:xfrm>
          <a:prstGeom prst="rect">
            <a:avLst/>
          </a:prstGeom>
          <a:noFill/>
          <a:ln>
            <a:noFill/>
          </a:ln>
        </p:spPr>
        <p:txBody>
          <a:bodyPr anchorCtr="0" anchor="t" bIns="0" lIns="0" spcFirstLastPara="1" rIns="0" wrap="square" tIns="0">
            <a:noAutofit/>
          </a:bodyPr>
          <a:lstStyle/>
          <a:p>
            <a:pPr indent="0" lvl="0" marL="0" marR="0" rtl="0" algn="ctr">
              <a:lnSpc>
                <a:spcPct val="114285"/>
              </a:lnSpc>
              <a:spcBef>
                <a:spcPts val="0"/>
              </a:spcBef>
              <a:spcAft>
                <a:spcPts val="0"/>
              </a:spcAft>
              <a:buClr>
                <a:srgbClr val="CFCBBF"/>
              </a:buClr>
              <a:buSzPts val="1750"/>
              <a:buFont typeface="Raleway"/>
              <a:buNone/>
            </a:pPr>
            <a:r>
              <a:rPr b="0" i="0" lang="en-US" sz="1750" u="none" cap="none" strike="noStrike">
                <a:solidFill>
                  <a:srgbClr val="CFCBBF"/>
                </a:solidFill>
                <a:latin typeface="Raleway"/>
                <a:ea typeface="Raleway"/>
                <a:cs typeface="Raleway"/>
                <a:sym typeface="Raleway"/>
              </a:rPr>
              <a:t>Track meals in seconds</a:t>
            </a:r>
            <a:endParaRPr b="0" i="0" sz="1750" u="none" cap="none" strike="noStrike"/>
          </a:p>
        </p:txBody>
      </p:sp>
      <p:pic>
        <p:nvPicPr>
          <p:cNvPr descr="preencoded.png" id="115" name="Google Shape;115;p16"/>
          <p:cNvPicPr preferRelativeResize="0"/>
          <p:nvPr/>
        </p:nvPicPr>
        <p:blipFill rotWithShape="1">
          <a:blip r:embed="rId6">
            <a:alphaModFix/>
          </a:blip>
          <a:srcRect b="0" l="0" r="0" t="0"/>
          <a:stretch/>
        </p:blipFill>
        <p:spPr>
          <a:xfrm>
            <a:off x="8175045" y="3204139"/>
            <a:ext cx="502390" cy="502390"/>
          </a:xfrm>
          <a:prstGeom prst="rect">
            <a:avLst/>
          </a:prstGeom>
          <a:noFill/>
          <a:ln>
            <a:noFill/>
          </a:ln>
        </p:spPr>
      </p:pic>
      <p:sp>
        <p:nvSpPr>
          <p:cNvPr id="116" name="Google Shape;116;p16"/>
          <p:cNvSpPr/>
          <p:nvPr/>
        </p:nvSpPr>
        <p:spPr>
          <a:xfrm>
            <a:off x="9491774" y="6063477"/>
            <a:ext cx="2268154" cy="350505"/>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CFCBBF"/>
              </a:buClr>
              <a:buSzPts val="2200"/>
              <a:buFont typeface="Prata"/>
              <a:buNone/>
            </a:pPr>
            <a:r>
              <a:rPr b="0" i="0" lang="en-US" sz="2200" u="none" cap="none" strike="noStrike">
                <a:solidFill>
                  <a:srgbClr val="CFCBBF"/>
                </a:solidFill>
                <a:latin typeface="Prata"/>
                <a:ea typeface="Prata"/>
                <a:cs typeface="Prata"/>
                <a:sym typeface="Prata"/>
              </a:rPr>
              <a:t>View Dashboard</a:t>
            </a:r>
            <a:endParaRPr b="0" i="0" sz="2200" u="none" cap="none" strike="noStrike"/>
          </a:p>
        </p:txBody>
      </p:sp>
      <p:sp>
        <p:nvSpPr>
          <p:cNvPr id="117" name="Google Shape;117;p16"/>
          <p:cNvSpPr/>
          <p:nvPr/>
        </p:nvSpPr>
        <p:spPr>
          <a:xfrm>
            <a:off x="9491774" y="6513681"/>
            <a:ext cx="2268154" cy="512516"/>
          </a:xfrm>
          <a:prstGeom prst="rect">
            <a:avLst/>
          </a:prstGeom>
          <a:noFill/>
          <a:ln>
            <a:noFill/>
          </a:ln>
        </p:spPr>
        <p:txBody>
          <a:bodyPr anchorCtr="0" anchor="t" bIns="0" lIns="0" spcFirstLastPara="1" rIns="0" wrap="square" tIns="0">
            <a:noAutofit/>
          </a:bodyPr>
          <a:lstStyle/>
          <a:p>
            <a:pPr indent="0" lvl="0" marL="0" marR="0" rtl="0" algn="ctr">
              <a:lnSpc>
                <a:spcPct val="114285"/>
              </a:lnSpc>
              <a:spcBef>
                <a:spcPts val="0"/>
              </a:spcBef>
              <a:spcAft>
                <a:spcPts val="0"/>
              </a:spcAft>
              <a:buClr>
                <a:srgbClr val="CFCBBF"/>
              </a:buClr>
              <a:buSzPts val="1750"/>
              <a:buFont typeface="Raleway"/>
              <a:buNone/>
            </a:pPr>
            <a:r>
              <a:rPr b="0" i="0" lang="en-US" sz="1750" u="none" cap="none" strike="noStrike">
                <a:solidFill>
                  <a:srgbClr val="CFCBBF"/>
                </a:solidFill>
                <a:latin typeface="Raleway"/>
                <a:ea typeface="Raleway"/>
                <a:cs typeface="Raleway"/>
                <a:sym typeface="Raleway"/>
              </a:rPr>
              <a:t>See progress at a glance</a:t>
            </a:r>
            <a:endParaRPr b="0" i="0" sz="1750" u="none" cap="none" strike="noStrike"/>
          </a:p>
        </p:txBody>
      </p:sp>
      <p:pic>
        <p:nvPicPr>
          <p:cNvPr descr="preencoded.png" id="118" name="Google Shape;118;p16"/>
          <p:cNvPicPr preferRelativeResize="0"/>
          <p:nvPr/>
        </p:nvPicPr>
        <p:blipFill rotWithShape="1">
          <a:blip r:embed="rId7">
            <a:alphaModFix/>
          </a:blip>
          <a:srcRect b="0" l="0" r="0" t="0"/>
          <a:stretch/>
        </p:blipFill>
        <p:spPr>
          <a:xfrm>
            <a:off x="10380887" y="5085959"/>
            <a:ext cx="502390" cy="502390"/>
          </a:xfrm>
          <a:prstGeom prst="rect">
            <a:avLst/>
          </a:prstGeom>
          <a:noFill/>
          <a:ln>
            <a:noFill/>
          </a:ln>
        </p:spPr>
      </p:pic>
      <p:pic>
        <p:nvPicPr>
          <p:cNvPr id="119" name="Google Shape;119;p16" title="Screenshot 2026-04-27 at 1.44.32 PM.png"/>
          <p:cNvPicPr preferRelativeResize="0"/>
          <p:nvPr/>
        </p:nvPicPr>
        <p:blipFill>
          <a:blip r:embed="rId8">
            <a:alphaModFix/>
          </a:blip>
          <a:stretch>
            <a:fillRect/>
          </a:stretch>
        </p:blipFill>
        <p:spPr>
          <a:xfrm>
            <a:off x="12668250" y="7562853"/>
            <a:ext cx="1962150" cy="6667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pic>
        <p:nvPicPr>
          <p:cNvPr descr="preencoded.png" id="125" name="Google Shape;125;p17"/>
          <p:cNvPicPr preferRelativeResize="0"/>
          <p:nvPr/>
        </p:nvPicPr>
        <p:blipFill rotWithShape="1">
          <a:blip r:embed="rId3">
            <a:alphaModFix/>
          </a:blip>
          <a:srcRect b="0" l="0" r="0" t="0"/>
          <a:stretch/>
        </p:blipFill>
        <p:spPr>
          <a:xfrm>
            <a:off x="0" y="0"/>
            <a:ext cx="5486400" cy="8229600"/>
          </a:xfrm>
          <a:prstGeom prst="rect">
            <a:avLst/>
          </a:prstGeom>
          <a:noFill/>
          <a:ln>
            <a:noFill/>
          </a:ln>
        </p:spPr>
      </p:pic>
      <p:sp>
        <p:nvSpPr>
          <p:cNvPr id="126" name="Google Shape;126;p17"/>
          <p:cNvSpPr/>
          <p:nvPr/>
        </p:nvSpPr>
        <p:spPr>
          <a:xfrm>
            <a:off x="6280190" y="1322189"/>
            <a:ext cx="5670590"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F2E782"/>
              </a:buClr>
              <a:buSzPts val="4450"/>
              <a:buFont typeface="Prata"/>
              <a:buNone/>
            </a:pPr>
            <a:r>
              <a:rPr b="0" i="0" lang="en-US" sz="4450" u="none" cap="none" strike="noStrike">
                <a:solidFill>
                  <a:srgbClr val="F2E782"/>
                </a:solidFill>
                <a:latin typeface="Prata"/>
                <a:ea typeface="Prata"/>
                <a:cs typeface="Prata"/>
                <a:sym typeface="Prata"/>
              </a:rPr>
              <a:t>AI Food Recognition</a:t>
            </a:r>
            <a:endParaRPr b="0" i="0" sz="4450" u="none" cap="none" strike="noStrike"/>
          </a:p>
        </p:txBody>
      </p:sp>
      <p:sp>
        <p:nvSpPr>
          <p:cNvPr id="127" name="Google Shape;127;p17"/>
          <p:cNvSpPr/>
          <p:nvPr/>
        </p:nvSpPr>
        <p:spPr>
          <a:xfrm>
            <a:off x="6280190" y="2371130"/>
            <a:ext cx="907256" cy="1360884"/>
          </a:xfrm>
          <a:prstGeom prst="roundRect">
            <a:avLst>
              <a:gd fmla="val 360022" name="adj"/>
            </a:avLst>
          </a:prstGeom>
          <a:solidFill>
            <a:srgbClr val="3A3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7"/>
          <p:cNvSpPr/>
          <p:nvPr/>
        </p:nvSpPr>
        <p:spPr>
          <a:xfrm>
            <a:off x="6711100" y="2838925"/>
            <a:ext cx="192600" cy="425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FCBBF"/>
              </a:buClr>
              <a:buSzPts val="2650"/>
              <a:buFont typeface="Prata"/>
              <a:buNone/>
            </a:pPr>
            <a:r>
              <a:rPr lang="en-US" sz="2650">
                <a:solidFill>
                  <a:srgbClr val="CFCBBF"/>
                </a:solidFill>
                <a:latin typeface="Prata"/>
                <a:ea typeface="Prata"/>
                <a:cs typeface="Prata"/>
                <a:sym typeface="Prata"/>
              </a:rPr>
              <a:t>1</a:t>
            </a:r>
            <a:endParaRPr b="0" i="0" sz="2650" u="none" cap="none" strike="noStrike"/>
          </a:p>
        </p:txBody>
      </p:sp>
      <p:sp>
        <p:nvSpPr>
          <p:cNvPr id="129" name="Google Shape;129;p17"/>
          <p:cNvSpPr/>
          <p:nvPr/>
        </p:nvSpPr>
        <p:spPr>
          <a:xfrm>
            <a:off x="7414260" y="2597944"/>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CFCBBF"/>
              </a:buClr>
              <a:buSzPts val="2200"/>
              <a:buFont typeface="Prata"/>
              <a:buNone/>
            </a:pPr>
            <a:r>
              <a:rPr lang="en-US" sz="2200">
                <a:solidFill>
                  <a:srgbClr val="CFCBBF"/>
                </a:solidFill>
                <a:latin typeface="Prata"/>
                <a:ea typeface="Prata"/>
                <a:cs typeface="Prata"/>
                <a:sym typeface="Prata"/>
              </a:rPr>
              <a:t>Upload</a:t>
            </a:r>
            <a:r>
              <a:rPr b="0" i="0" lang="en-US" sz="2200" u="none" cap="none" strike="noStrike">
                <a:solidFill>
                  <a:srgbClr val="CFCBBF"/>
                </a:solidFill>
                <a:latin typeface="Prata"/>
                <a:ea typeface="Prata"/>
                <a:cs typeface="Prata"/>
                <a:sym typeface="Prata"/>
              </a:rPr>
              <a:t> a photo</a:t>
            </a:r>
            <a:endParaRPr b="0" i="0" sz="2200" u="none" cap="none" strike="noStrike"/>
          </a:p>
        </p:txBody>
      </p:sp>
      <p:sp>
        <p:nvSpPr>
          <p:cNvPr id="130" name="Google Shape;130;p17"/>
          <p:cNvSpPr/>
          <p:nvPr/>
        </p:nvSpPr>
        <p:spPr>
          <a:xfrm>
            <a:off x="7414260" y="3088362"/>
            <a:ext cx="6422350" cy="36290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CFCBBF"/>
              </a:buClr>
              <a:buSzPts val="1750"/>
              <a:buFont typeface="Raleway"/>
              <a:buNone/>
            </a:pPr>
            <a:r>
              <a:rPr lang="en-US" sz="1750">
                <a:solidFill>
                  <a:srgbClr val="CFCBBF"/>
                </a:solidFill>
                <a:latin typeface="Raleway"/>
                <a:ea typeface="Raleway"/>
                <a:cs typeface="Raleway"/>
                <a:sym typeface="Raleway"/>
              </a:rPr>
              <a:t>U</a:t>
            </a:r>
            <a:r>
              <a:rPr b="0" i="0" lang="en-US" sz="1750" u="none" cap="none" strike="noStrike">
                <a:solidFill>
                  <a:srgbClr val="CFCBBF"/>
                </a:solidFill>
                <a:latin typeface="Raleway"/>
                <a:ea typeface="Raleway"/>
                <a:cs typeface="Raleway"/>
                <a:sym typeface="Raleway"/>
              </a:rPr>
              <a:t>pload from camera roll</a:t>
            </a:r>
            <a:endParaRPr b="0" i="0" sz="1750" u="none" cap="none" strike="noStrike"/>
          </a:p>
        </p:txBody>
      </p:sp>
      <p:sp>
        <p:nvSpPr>
          <p:cNvPr id="131" name="Google Shape;131;p17"/>
          <p:cNvSpPr/>
          <p:nvPr/>
        </p:nvSpPr>
        <p:spPr>
          <a:xfrm>
            <a:off x="6280190" y="3958828"/>
            <a:ext cx="907256" cy="1360884"/>
          </a:xfrm>
          <a:prstGeom prst="roundRect">
            <a:avLst>
              <a:gd fmla="val 360022" name="adj"/>
            </a:avLst>
          </a:prstGeom>
          <a:solidFill>
            <a:srgbClr val="3A3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17"/>
          <p:cNvSpPr/>
          <p:nvPr/>
        </p:nvSpPr>
        <p:spPr>
          <a:xfrm>
            <a:off x="6643825" y="4489125"/>
            <a:ext cx="260100" cy="36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FCBBF"/>
              </a:buClr>
              <a:buSzPts val="2650"/>
              <a:buFont typeface="Prata"/>
              <a:buNone/>
            </a:pPr>
            <a:r>
              <a:rPr b="0" i="0" lang="en-US" sz="2650" u="none" cap="none" strike="noStrike">
                <a:solidFill>
                  <a:srgbClr val="CFCBBF"/>
                </a:solidFill>
                <a:latin typeface="Prata"/>
                <a:ea typeface="Prata"/>
                <a:cs typeface="Prata"/>
                <a:sym typeface="Prata"/>
              </a:rPr>
              <a:t>2</a:t>
            </a:r>
            <a:endParaRPr b="0" i="0" sz="2650" u="none" cap="none" strike="noStrike"/>
          </a:p>
        </p:txBody>
      </p:sp>
      <p:sp>
        <p:nvSpPr>
          <p:cNvPr id="133" name="Google Shape;133;p17"/>
          <p:cNvSpPr/>
          <p:nvPr/>
        </p:nvSpPr>
        <p:spPr>
          <a:xfrm>
            <a:off x="7414260" y="4185642"/>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CFCBBF"/>
              </a:buClr>
              <a:buSzPts val="2200"/>
              <a:buFont typeface="Prata"/>
              <a:buNone/>
            </a:pPr>
            <a:r>
              <a:rPr b="0" i="0" lang="en-US" sz="2200" u="none" cap="none" strike="noStrike">
                <a:solidFill>
                  <a:srgbClr val="CFCBBF"/>
                </a:solidFill>
                <a:latin typeface="Prata"/>
                <a:ea typeface="Prata"/>
                <a:cs typeface="Prata"/>
                <a:sym typeface="Prata"/>
              </a:rPr>
              <a:t>AI identifies food</a:t>
            </a:r>
            <a:endParaRPr b="0" i="0" sz="2200" u="none" cap="none" strike="noStrike"/>
          </a:p>
        </p:txBody>
      </p:sp>
      <p:sp>
        <p:nvSpPr>
          <p:cNvPr id="134" name="Google Shape;134;p17"/>
          <p:cNvSpPr/>
          <p:nvPr/>
        </p:nvSpPr>
        <p:spPr>
          <a:xfrm>
            <a:off x="7414260" y="4676061"/>
            <a:ext cx="6422350" cy="36290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CFCBBF"/>
              </a:buClr>
              <a:buSzPts val="1750"/>
              <a:buFont typeface="Raleway"/>
              <a:buNone/>
            </a:pPr>
            <a:r>
              <a:rPr b="0" i="0" lang="en-US" sz="1750" u="none" cap="none" strike="noStrike">
                <a:solidFill>
                  <a:srgbClr val="CFCBBF"/>
                </a:solidFill>
                <a:latin typeface="Raleway"/>
                <a:ea typeface="Raleway"/>
                <a:cs typeface="Raleway"/>
                <a:sym typeface="Raleway"/>
              </a:rPr>
              <a:t>Computer vision API detects items &amp; estimates portions</a:t>
            </a:r>
            <a:endParaRPr b="0" i="0" sz="1750" u="none" cap="none" strike="noStrike"/>
          </a:p>
        </p:txBody>
      </p:sp>
      <p:sp>
        <p:nvSpPr>
          <p:cNvPr id="135" name="Google Shape;135;p17"/>
          <p:cNvSpPr/>
          <p:nvPr/>
        </p:nvSpPr>
        <p:spPr>
          <a:xfrm>
            <a:off x="6280190" y="5546527"/>
            <a:ext cx="907256" cy="1360884"/>
          </a:xfrm>
          <a:prstGeom prst="roundRect">
            <a:avLst>
              <a:gd fmla="val 360022" name="adj"/>
            </a:avLst>
          </a:prstGeom>
          <a:solidFill>
            <a:srgbClr val="3A3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17"/>
          <p:cNvSpPr/>
          <p:nvPr/>
        </p:nvSpPr>
        <p:spPr>
          <a:xfrm>
            <a:off x="6643747" y="6014325"/>
            <a:ext cx="260100" cy="425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FCBBF"/>
              </a:buClr>
              <a:buSzPts val="2650"/>
              <a:buFont typeface="Prata"/>
              <a:buNone/>
            </a:pPr>
            <a:r>
              <a:rPr b="0" i="0" lang="en-US" sz="2650" u="none" cap="none" strike="noStrike">
                <a:solidFill>
                  <a:srgbClr val="CFCBBF"/>
                </a:solidFill>
                <a:latin typeface="Prata"/>
                <a:ea typeface="Prata"/>
                <a:cs typeface="Prata"/>
                <a:sym typeface="Prata"/>
              </a:rPr>
              <a:t>3</a:t>
            </a:r>
            <a:endParaRPr b="0" i="0" sz="2650" u="none" cap="none" strike="noStrike"/>
          </a:p>
        </p:txBody>
      </p:sp>
      <p:sp>
        <p:nvSpPr>
          <p:cNvPr id="137" name="Google Shape;137;p17"/>
          <p:cNvSpPr/>
          <p:nvPr/>
        </p:nvSpPr>
        <p:spPr>
          <a:xfrm>
            <a:off x="7414260" y="5773341"/>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CFCBBF"/>
              </a:buClr>
              <a:buSzPts val="2200"/>
              <a:buFont typeface="Prata"/>
              <a:buNone/>
            </a:pPr>
            <a:r>
              <a:rPr b="0" i="0" lang="en-US" sz="2200" u="none" cap="none" strike="noStrike">
                <a:solidFill>
                  <a:srgbClr val="CFCBBF"/>
                </a:solidFill>
                <a:latin typeface="Prata"/>
                <a:ea typeface="Prata"/>
                <a:cs typeface="Prata"/>
                <a:sym typeface="Prata"/>
              </a:rPr>
              <a:t>Confirm &amp; save</a:t>
            </a:r>
            <a:endParaRPr b="0" i="0" sz="2200" u="none" cap="none" strike="noStrike"/>
          </a:p>
        </p:txBody>
      </p:sp>
      <p:sp>
        <p:nvSpPr>
          <p:cNvPr id="138" name="Google Shape;138;p17"/>
          <p:cNvSpPr/>
          <p:nvPr/>
        </p:nvSpPr>
        <p:spPr>
          <a:xfrm>
            <a:off x="7414260" y="6263759"/>
            <a:ext cx="6422350" cy="36290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CFCBBF"/>
              </a:buClr>
              <a:buSzPts val="1750"/>
              <a:buFont typeface="Raleway"/>
              <a:buNone/>
            </a:pPr>
            <a:r>
              <a:rPr lang="en-US" sz="1750">
                <a:solidFill>
                  <a:srgbClr val="CFCBBF"/>
                </a:solidFill>
                <a:latin typeface="Raleway"/>
                <a:ea typeface="Raleway"/>
                <a:cs typeface="Raleway"/>
                <a:sym typeface="Raleway"/>
              </a:rPr>
              <a:t>Confirm</a:t>
            </a:r>
            <a:r>
              <a:rPr b="0" i="0" lang="en-US" sz="1750" u="none" cap="none" strike="noStrike">
                <a:solidFill>
                  <a:srgbClr val="CFCBBF"/>
                </a:solidFill>
                <a:latin typeface="Raleway"/>
                <a:ea typeface="Raleway"/>
                <a:cs typeface="Raleway"/>
                <a:sym typeface="Raleway"/>
              </a:rPr>
              <a:t> before logging — full user control</a:t>
            </a:r>
            <a:endParaRPr b="0" i="0" sz="1750" u="none" cap="none" strike="noStrike"/>
          </a:p>
        </p:txBody>
      </p:sp>
      <p:pic>
        <p:nvPicPr>
          <p:cNvPr id="139" name="Google Shape;139;p17" title="Screenshot 2026-04-27 at 1.44.32 PM.png"/>
          <p:cNvPicPr preferRelativeResize="0"/>
          <p:nvPr/>
        </p:nvPicPr>
        <p:blipFill>
          <a:blip r:embed="rId4">
            <a:alphaModFix/>
          </a:blip>
          <a:stretch>
            <a:fillRect/>
          </a:stretch>
        </p:blipFill>
        <p:spPr>
          <a:xfrm>
            <a:off x="12668250" y="7562853"/>
            <a:ext cx="1962150" cy="6667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18"/>
          <p:cNvSpPr/>
          <p:nvPr/>
        </p:nvSpPr>
        <p:spPr>
          <a:xfrm>
            <a:off x="1079183" y="529709"/>
            <a:ext cx="4518779" cy="564713"/>
          </a:xfrm>
          <a:prstGeom prst="rect">
            <a:avLst/>
          </a:prstGeom>
          <a:noFill/>
          <a:ln>
            <a:noFill/>
          </a:ln>
        </p:spPr>
        <p:txBody>
          <a:bodyPr anchorCtr="0" anchor="t" bIns="0" lIns="0" spcFirstLastPara="1" rIns="0" wrap="square" tIns="0">
            <a:noAutofit/>
          </a:bodyPr>
          <a:lstStyle/>
          <a:p>
            <a:pPr indent="0" lvl="0" marL="0" marR="0" rtl="0" algn="l">
              <a:lnSpc>
                <a:spcPct val="123943"/>
              </a:lnSpc>
              <a:spcBef>
                <a:spcPts val="0"/>
              </a:spcBef>
              <a:spcAft>
                <a:spcPts val="0"/>
              </a:spcAft>
              <a:buClr>
                <a:srgbClr val="F2E782"/>
              </a:buClr>
              <a:buSzPts val="3550"/>
              <a:buFont typeface="Prata"/>
              <a:buNone/>
            </a:pPr>
            <a:r>
              <a:rPr b="0" i="0" lang="en-US" sz="3550" u="none" cap="none" strike="noStrike">
                <a:solidFill>
                  <a:srgbClr val="F2E782"/>
                </a:solidFill>
                <a:latin typeface="Prata"/>
                <a:ea typeface="Prata"/>
                <a:cs typeface="Prata"/>
                <a:sym typeface="Prata"/>
              </a:rPr>
              <a:t>Recipe Discovery</a:t>
            </a:r>
            <a:endParaRPr b="0" i="0" sz="3550" u="none" cap="none" strike="noStrike"/>
          </a:p>
        </p:txBody>
      </p:sp>
      <p:pic>
        <p:nvPicPr>
          <p:cNvPr descr="preencoded.png" id="146" name="Google Shape;146;p18"/>
          <p:cNvPicPr preferRelativeResize="0"/>
          <p:nvPr/>
        </p:nvPicPr>
        <p:blipFill rotWithShape="1">
          <a:blip r:embed="rId3">
            <a:alphaModFix/>
          </a:blip>
          <a:srcRect b="0" l="6829" r="0" t="7987"/>
          <a:stretch/>
        </p:blipFill>
        <p:spPr>
          <a:xfrm>
            <a:off x="630505" y="2190550"/>
            <a:ext cx="5057841" cy="3810150"/>
          </a:xfrm>
          <a:prstGeom prst="rect">
            <a:avLst/>
          </a:prstGeom>
          <a:noFill/>
          <a:ln>
            <a:noFill/>
          </a:ln>
        </p:spPr>
      </p:pic>
      <p:sp>
        <p:nvSpPr>
          <p:cNvPr id="147" name="Google Shape;147;p18"/>
          <p:cNvSpPr/>
          <p:nvPr/>
        </p:nvSpPr>
        <p:spPr>
          <a:xfrm>
            <a:off x="5995300" y="1541287"/>
            <a:ext cx="4078500" cy="2459400"/>
          </a:xfrm>
          <a:prstGeom prst="rect">
            <a:avLst/>
          </a:prstGeom>
          <a:noFill/>
          <a:ln>
            <a:noFill/>
          </a:ln>
        </p:spPr>
        <p:txBody>
          <a:bodyPr anchorCtr="0" anchor="t" bIns="0" lIns="0" spcFirstLastPara="1" rIns="0" wrap="square" tIns="0">
            <a:noAutofit/>
          </a:bodyPr>
          <a:lstStyle/>
          <a:p>
            <a:pPr indent="0" lvl="0" marL="0" marR="0" rtl="0" algn="l">
              <a:lnSpc>
                <a:spcPct val="142857"/>
              </a:lnSpc>
              <a:spcBef>
                <a:spcPts val="0"/>
              </a:spcBef>
              <a:spcAft>
                <a:spcPts val="0"/>
              </a:spcAft>
              <a:buNone/>
            </a:pPr>
            <a:r>
              <a:rPr lang="en-US" sz="2900">
                <a:solidFill>
                  <a:srgbClr val="CFCBBF"/>
                </a:solidFill>
                <a:latin typeface="Raleway"/>
                <a:ea typeface="Raleway"/>
                <a:cs typeface="Raleway"/>
                <a:sym typeface="Raleway"/>
              </a:rPr>
              <a:t>Filter recipes by:</a:t>
            </a:r>
            <a:endParaRPr sz="2900">
              <a:solidFill>
                <a:srgbClr val="CFCBBF"/>
              </a:solidFill>
              <a:latin typeface="Raleway"/>
              <a:ea typeface="Raleway"/>
              <a:cs typeface="Raleway"/>
              <a:sym typeface="Raleway"/>
            </a:endParaRPr>
          </a:p>
          <a:p>
            <a:pPr indent="-419100" lvl="0" marL="342900" marR="0" rtl="0" algn="l">
              <a:lnSpc>
                <a:spcPct val="142857"/>
              </a:lnSpc>
              <a:spcBef>
                <a:spcPts val="0"/>
              </a:spcBef>
              <a:spcAft>
                <a:spcPts val="0"/>
              </a:spcAft>
              <a:buClr>
                <a:srgbClr val="CFCBBF"/>
              </a:buClr>
              <a:buSzPts val="2600"/>
              <a:buFont typeface="Raleway"/>
              <a:buChar char="•"/>
            </a:pPr>
            <a:r>
              <a:rPr b="0" i="0" lang="en-US" sz="2600" u="none" cap="none" strike="noStrike">
                <a:solidFill>
                  <a:srgbClr val="CFCBBF"/>
                </a:solidFill>
                <a:latin typeface="Raleway"/>
                <a:ea typeface="Raleway"/>
                <a:cs typeface="Raleway"/>
                <a:sym typeface="Raleway"/>
              </a:rPr>
              <a:t>Calorie range</a:t>
            </a:r>
            <a:endParaRPr b="0" i="0" sz="2600" u="none" cap="none" strike="noStrike"/>
          </a:p>
          <a:p>
            <a:pPr indent="-419100" lvl="0" marL="342900" marR="0" rtl="0" algn="l">
              <a:lnSpc>
                <a:spcPct val="142857"/>
              </a:lnSpc>
              <a:spcBef>
                <a:spcPts val="0"/>
              </a:spcBef>
              <a:spcAft>
                <a:spcPts val="0"/>
              </a:spcAft>
              <a:buClr>
                <a:srgbClr val="CFCBBF"/>
              </a:buClr>
              <a:buSzPts val="2600"/>
              <a:buFont typeface="Raleway"/>
              <a:buChar char="•"/>
            </a:pPr>
            <a:r>
              <a:rPr b="0" i="0" lang="en-US" sz="2600" u="none" cap="none" strike="noStrike">
                <a:solidFill>
                  <a:srgbClr val="CFCBBF"/>
                </a:solidFill>
                <a:latin typeface="Raleway"/>
                <a:ea typeface="Raleway"/>
                <a:cs typeface="Raleway"/>
                <a:sym typeface="Raleway"/>
              </a:rPr>
              <a:t>Dietary preference (vegan, vegetarian, etc.)</a:t>
            </a:r>
            <a:endParaRPr b="0" i="0" sz="2600" u="none" cap="none" strike="noStrike"/>
          </a:p>
        </p:txBody>
      </p:sp>
      <p:sp>
        <p:nvSpPr>
          <p:cNvPr id="148" name="Google Shape;148;p18"/>
          <p:cNvSpPr/>
          <p:nvPr/>
        </p:nvSpPr>
        <p:spPr>
          <a:xfrm>
            <a:off x="5995300" y="4363525"/>
            <a:ext cx="4078500" cy="3059400"/>
          </a:xfrm>
          <a:prstGeom prst="rect">
            <a:avLst/>
          </a:prstGeom>
          <a:noFill/>
          <a:ln>
            <a:noFill/>
          </a:ln>
        </p:spPr>
        <p:txBody>
          <a:bodyPr anchorCtr="0" anchor="t" bIns="0" lIns="0" spcFirstLastPara="1" rIns="0" wrap="square" tIns="0">
            <a:noAutofit/>
          </a:bodyPr>
          <a:lstStyle/>
          <a:p>
            <a:pPr indent="0" lvl="0" marL="0" marR="0" rtl="0" algn="l">
              <a:lnSpc>
                <a:spcPct val="142857"/>
              </a:lnSpc>
              <a:spcBef>
                <a:spcPts val="0"/>
              </a:spcBef>
              <a:spcAft>
                <a:spcPts val="0"/>
              </a:spcAft>
              <a:buClr>
                <a:srgbClr val="CFCBBF"/>
              </a:buClr>
              <a:buSzPts val="1400"/>
              <a:buFont typeface="Raleway"/>
              <a:buNone/>
            </a:pPr>
            <a:r>
              <a:rPr b="0" i="0" lang="en-US" sz="2600" u="none" cap="none" strike="noStrike">
                <a:solidFill>
                  <a:srgbClr val="CFCBBF"/>
                </a:solidFill>
                <a:latin typeface="Raleway"/>
                <a:ea typeface="Raleway"/>
                <a:cs typeface="Raleway"/>
                <a:sym typeface="Raleway"/>
              </a:rPr>
              <a:t>Each result shows </a:t>
            </a:r>
            <a:r>
              <a:rPr b="1" i="0" lang="en-US" sz="2600" u="none" cap="none" strike="noStrike">
                <a:solidFill>
                  <a:srgbClr val="CFCBBF"/>
                </a:solidFill>
                <a:latin typeface="Raleway"/>
                <a:ea typeface="Raleway"/>
                <a:cs typeface="Raleway"/>
                <a:sym typeface="Raleway"/>
              </a:rPr>
              <a:t>ingredients, steps, and full nutrition info</a:t>
            </a:r>
            <a:r>
              <a:rPr b="0" i="0" lang="en-US" sz="2600" u="none" cap="none" strike="noStrike">
                <a:solidFill>
                  <a:srgbClr val="CFCBBF"/>
                </a:solidFill>
                <a:latin typeface="Raleway"/>
                <a:ea typeface="Raleway"/>
                <a:cs typeface="Raleway"/>
                <a:sym typeface="Raleway"/>
              </a:rPr>
              <a:t> — powered by a recipe API (Nutrition</a:t>
            </a:r>
            <a:r>
              <a:rPr lang="en-US" sz="2600">
                <a:solidFill>
                  <a:srgbClr val="CFCBBF"/>
                </a:solidFill>
                <a:latin typeface="Raleway"/>
                <a:ea typeface="Raleway"/>
                <a:cs typeface="Raleway"/>
                <a:sym typeface="Raleway"/>
              </a:rPr>
              <a:t>ix</a:t>
            </a:r>
            <a:r>
              <a:rPr b="0" i="0" lang="en-US" sz="2600" u="none" cap="none" strike="noStrike">
                <a:solidFill>
                  <a:srgbClr val="CFCBBF"/>
                </a:solidFill>
                <a:latin typeface="Raleway"/>
                <a:ea typeface="Raleway"/>
                <a:cs typeface="Raleway"/>
                <a:sym typeface="Raleway"/>
              </a:rPr>
              <a:t>).</a:t>
            </a:r>
            <a:endParaRPr b="0" i="0" sz="2600" u="none" cap="none" strike="noStrike"/>
          </a:p>
        </p:txBody>
      </p:sp>
      <p:pic>
        <p:nvPicPr>
          <p:cNvPr id="149" name="Google Shape;149;p18" title="Screenshot 2026-04-27 at 1.44.32 PM.png"/>
          <p:cNvPicPr preferRelativeResize="0"/>
          <p:nvPr/>
        </p:nvPicPr>
        <p:blipFill>
          <a:blip r:embed="rId4">
            <a:alphaModFix/>
          </a:blip>
          <a:stretch>
            <a:fillRect/>
          </a:stretch>
        </p:blipFill>
        <p:spPr>
          <a:xfrm>
            <a:off x="12668250" y="7562853"/>
            <a:ext cx="1962150" cy="666750"/>
          </a:xfrm>
          <a:prstGeom prst="rect">
            <a:avLst/>
          </a:prstGeom>
          <a:noFill/>
          <a:ln>
            <a:noFill/>
          </a:ln>
        </p:spPr>
      </p:pic>
      <p:pic>
        <p:nvPicPr>
          <p:cNvPr id="150" name="Google Shape;150;p18"/>
          <p:cNvPicPr preferRelativeResize="0"/>
          <p:nvPr/>
        </p:nvPicPr>
        <p:blipFill>
          <a:blip r:embed="rId5">
            <a:alphaModFix/>
          </a:blip>
          <a:stretch>
            <a:fillRect/>
          </a:stretch>
        </p:blipFill>
        <p:spPr>
          <a:xfrm>
            <a:off x="10073800" y="190772"/>
            <a:ext cx="4078500" cy="7809702"/>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pic>
        <p:nvPicPr>
          <p:cNvPr id="156" name="Google Shape;156;p19" title="Screenshot 2026-04-27 at 1.44.32 PM.png"/>
          <p:cNvPicPr preferRelativeResize="0"/>
          <p:nvPr/>
        </p:nvPicPr>
        <p:blipFill>
          <a:blip r:embed="rId3">
            <a:alphaModFix/>
          </a:blip>
          <a:stretch>
            <a:fillRect/>
          </a:stretch>
        </p:blipFill>
        <p:spPr>
          <a:xfrm>
            <a:off x="12668250" y="7562853"/>
            <a:ext cx="1962150" cy="666750"/>
          </a:xfrm>
          <a:prstGeom prst="rect">
            <a:avLst/>
          </a:prstGeom>
          <a:noFill/>
          <a:ln>
            <a:noFill/>
          </a:ln>
        </p:spPr>
      </p:pic>
      <p:sp>
        <p:nvSpPr>
          <p:cNvPr id="157" name="Google Shape;157;p19"/>
          <p:cNvSpPr/>
          <p:nvPr/>
        </p:nvSpPr>
        <p:spPr>
          <a:xfrm>
            <a:off x="467300" y="530700"/>
            <a:ext cx="6522600" cy="746700"/>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F2E782"/>
              </a:buClr>
              <a:buSzPts val="4688"/>
              <a:buFont typeface="Prata"/>
              <a:buNone/>
            </a:pPr>
            <a:r>
              <a:rPr b="0" i="0" lang="en-US" sz="4688" u="none" cap="none" strike="noStrike">
                <a:solidFill>
                  <a:srgbClr val="F2E782"/>
                </a:solidFill>
                <a:latin typeface="Prata"/>
                <a:ea typeface="Prata"/>
                <a:cs typeface="Prata"/>
                <a:sym typeface="Prata"/>
              </a:rPr>
              <a:t>Dashboard &amp; Tracking</a:t>
            </a:r>
            <a:endParaRPr b="0" i="0" sz="4688" u="none" cap="none" strike="noStrike"/>
          </a:p>
        </p:txBody>
      </p:sp>
      <p:sp>
        <p:nvSpPr>
          <p:cNvPr id="158" name="Google Shape;158;p19"/>
          <p:cNvSpPr/>
          <p:nvPr/>
        </p:nvSpPr>
        <p:spPr>
          <a:xfrm>
            <a:off x="467300" y="1635673"/>
            <a:ext cx="3860400" cy="1823100"/>
          </a:xfrm>
          <a:prstGeom prst="roundRect">
            <a:avLst>
              <a:gd fmla="val 1966" name="adj"/>
            </a:avLst>
          </a:prstGeom>
          <a:solidFill>
            <a:srgbClr val="1B1C1D"/>
          </a:solidFill>
          <a:ln cap="flat" cmpd="sng" w="32100">
            <a:solidFill>
              <a:srgbClr val="535455"/>
            </a:solidFill>
            <a:prstDash val="solid"/>
            <a:round/>
            <a:headEnd len="sm" w="sm" type="none"/>
            <a:tailEnd len="sm" w="sm" type="none"/>
          </a:ln>
        </p:spPr>
        <p:txBody>
          <a:bodyPr anchorCtr="0" anchor="ctr" bIns="96300" lIns="96300" spcFirstLastPara="1" rIns="96300" wrap="square" tIns="96300">
            <a:noAutofit/>
          </a:bodyPr>
          <a:lstStyle/>
          <a:p>
            <a:pPr indent="0" lvl="0" marL="0" rtl="0" algn="l">
              <a:spcBef>
                <a:spcPts val="0"/>
              </a:spcBef>
              <a:spcAft>
                <a:spcPts val="0"/>
              </a:spcAft>
              <a:buNone/>
            </a:pPr>
            <a:r>
              <a:t/>
            </a:r>
            <a:endParaRPr/>
          </a:p>
        </p:txBody>
      </p:sp>
      <p:sp>
        <p:nvSpPr>
          <p:cNvPr id="159" name="Google Shape;159;p19"/>
          <p:cNvSpPr/>
          <p:nvPr/>
        </p:nvSpPr>
        <p:spPr>
          <a:xfrm>
            <a:off x="738338" y="1906712"/>
            <a:ext cx="2986800" cy="372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CFCBBF"/>
              </a:buClr>
              <a:buSzPts val="2318"/>
              <a:buFont typeface="Prata"/>
              <a:buNone/>
            </a:pPr>
            <a:r>
              <a:rPr b="0" i="0" lang="en-US" sz="2318" u="none" cap="none" strike="noStrike">
                <a:solidFill>
                  <a:srgbClr val="CFCBBF"/>
                </a:solidFill>
                <a:latin typeface="Prata"/>
                <a:ea typeface="Prata"/>
                <a:cs typeface="Prata"/>
                <a:sym typeface="Prata"/>
              </a:rPr>
              <a:t>Daily Summary</a:t>
            </a:r>
            <a:endParaRPr b="0" i="0" sz="2318" u="none" cap="none" strike="noStrike"/>
          </a:p>
        </p:txBody>
      </p:sp>
      <p:sp>
        <p:nvSpPr>
          <p:cNvPr id="160" name="Google Shape;160;p19"/>
          <p:cNvSpPr/>
          <p:nvPr/>
        </p:nvSpPr>
        <p:spPr>
          <a:xfrm>
            <a:off x="738338" y="2423327"/>
            <a:ext cx="3318600" cy="3825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CFCBBF"/>
              </a:buClr>
              <a:buSzPts val="1843"/>
              <a:buFont typeface="Raleway"/>
              <a:buNone/>
            </a:pPr>
            <a:r>
              <a:rPr b="0" i="0" lang="en-US" sz="1843" u="none" cap="none" strike="noStrike">
                <a:solidFill>
                  <a:srgbClr val="CFCBBF"/>
                </a:solidFill>
                <a:latin typeface="Raleway"/>
                <a:ea typeface="Raleway"/>
                <a:cs typeface="Raleway"/>
                <a:sym typeface="Raleway"/>
              </a:rPr>
              <a:t>Calories in vs. goal at a glance</a:t>
            </a:r>
            <a:endParaRPr b="0" i="0" sz="1843" u="none" cap="none" strike="noStrike"/>
          </a:p>
        </p:txBody>
      </p:sp>
      <p:sp>
        <p:nvSpPr>
          <p:cNvPr id="161" name="Google Shape;161;p19"/>
          <p:cNvSpPr/>
          <p:nvPr/>
        </p:nvSpPr>
        <p:spPr>
          <a:xfrm>
            <a:off x="4660080" y="1635668"/>
            <a:ext cx="3767400" cy="1823100"/>
          </a:xfrm>
          <a:prstGeom prst="roundRect">
            <a:avLst>
              <a:gd fmla="val 1966" name="adj"/>
            </a:avLst>
          </a:prstGeom>
          <a:solidFill>
            <a:srgbClr val="1B1C1D"/>
          </a:solidFill>
          <a:ln cap="flat" cmpd="sng" w="26325">
            <a:solidFill>
              <a:srgbClr val="535455"/>
            </a:solidFill>
            <a:prstDash val="solid"/>
            <a:round/>
            <a:headEnd len="sm" w="sm" type="none"/>
            <a:tailEnd len="sm" w="sm" type="none"/>
          </a:ln>
        </p:spPr>
        <p:txBody>
          <a:bodyPr anchorCtr="0" anchor="ctr" bIns="78950" lIns="78950" spcFirstLastPara="1" rIns="78950" wrap="square" tIns="78950">
            <a:noAutofit/>
          </a:bodyPr>
          <a:lstStyle/>
          <a:p>
            <a:pPr indent="0" lvl="0" marL="0" rtl="0" algn="l">
              <a:spcBef>
                <a:spcPts val="0"/>
              </a:spcBef>
              <a:spcAft>
                <a:spcPts val="0"/>
              </a:spcAft>
              <a:buNone/>
            </a:pPr>
            <a:r>
              <a:t/>
            </a:r>
            <a:endParaRPr sz="1209"/>
          </a:p>
        </p:txBody>
      </p:sp>
      <p:sp>
        <p:nvSpPr>
          <p:cNvPr id="162" name="Google Shape;162;p19"/>
          <p:cNvSpPr/>
          <p:nvPr/>
        </p:nvSpPr>
        <p:spPr>
          <a:xfrm>
            <a:off x="4837773" y="1906712"/>
            <a:ext cx="2986800" cy="372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CFCBBF"/>
              </a:buClr>
              <a:buSzPts val="2318"/>
              <a:buFont typeface="Prata"/>
              <a:buNone/>
            </a:pPr>
            <a:r>
              <a:rPr b="0" i="0" lang="en-US" sz="2318" u="none" cap="none" strike="noStrike">
                <a:solidFill>
                  <a:srgbClr val="CFCBBF"/>
                </a:solidFill>
                <a:latin typeface="Prata"/>
                <a:ea typeface="Prata"/>
                <a:cs typeface="Prata"/>
                <a:sym typeface="Prata"/>
              </a:rPr>
              <a:t>Macro Breakdown by Recipe</a:t>
            </a:r>
            <a:endParaRPr b="0" i="0" sz="2318" u="none" cap="none" strike="noStrike"/>
          </a:p>
        </p:txBody>
      </p:sp>
      <p:sp>
        <p:nvSpPr>
          <p:cNvPr id="163" name="Google Shape;163;p19"/>
          <p:cNvSpPr/>
          <p:nvPr/>
        </p:nvSpPr>
        <p:spPr>
          <a:xfrm>
            <a:off x="4837773" y="2908890"/>
            <a:ext cx="3318600" cy="7644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CFCBBF"/>
              </a:buClr>
              <a:buSzPts val="1843"/>
              <a:buFont typeface="Raleway"/>
              <a:buNone/>
            </a:pPr>
            <a:r>
              <a:rPr b="0" i="0" lang="en-US" sz="1843" u="none" cap="none" strike="noStrike">
                <a:solidFill>
                  <a:srgbClr val="CFCBBF"/>
                </a:solidFill>
                <a:latin typeface="Raleway"/>
                <a:ea typeface="Raleway"/>
                <a:cs typeface="Raleway"/>
                <a:sym typeface="Raleway"/>
              </a:rPr>
              <a:t>Protein, carbs, fat — visualized</a:t>
            </a:r>
            <a:endParaRPr b="0" i="0" sz="1843" u="none" cap="none" strike="noStrike"/>
          </a:p>
        </p:txBody>
      </p:sp>
      <p:sp>
        <p:nvSpPr>
          <p:cNvPr id="164" name="Google Shape;164;p19"/>
          <p:cNvSpPr/>
          <p:nvPr/>
        </p:nvSpPr>
        <p:spPr>
          <a:xfrm>
            <a:off x="467300" y="3697875"/>
            <a:ext cx="2986800" cy="1441200"/>
          </a:xfrm>
          <a:prstGeom prst="roundRect">
            <a:avLst>
              <a:gd fmla="val 2487" name="adj"/>
            </a:avLst>
          </a:prstGeom>
          <a:solidFill>
            <a:srgbClr val="1B1C1D"/>
          </a:solidFill>
          <a:ln cap="flat" cmpd="sng" w="32100">
            <a:solidFill>
              <a:srgbClr val="535455"/>
            </a:solidFill>
            <a:prstDash val="solid"/>
            <a:round/>
            <a:headEnd len="sm" w="sm" type="none"/>
            <a:tailEnd len="sm" w="sm" type="none"/>
          </a:ln>
        </p:spPr>
        <p:txBody>
          <a:bodyPr anchorCtr="0" anchor="ctr" bIns="96300" lIns="96300" spcFirstLastPara="1" rIns="96300" wrap="square" tIns="96300">
            <a:noAutofit/>
          </a:bodyPr>
          <a:lstStyle/>
          <a:p>
            <a:pPr indent="0" lvl="0" marL="0" rtl="0" algn="l">
              <a:spcBef>
                <a:spcPts val="0"/>
              </a:spcBef>
              <a:spcAft>
                <a:spcPts val="0"/>
              </a:spcAft>
              <a:buNone/>
            </a:pPr>
            <a:r>
              <a:t/>
            </a:r>
            <a:endParaRPr/>
          </a:p>
        </p:txBody>
      </p:sp>
      <p:sp>
        <p:nvSpPr>
          <p:cNvPr id="165" name="Google Shape;165;p19"/>
          <p:cNvSpPr/>
          <p:nvPr/>
        </p:nvSpPr>
        <p:spPr>
          <a:xfrm>
            <a:off x="738338" y="3968910"/>
            <a:ext cx="2986800" cy="372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CFCBBF"/>
              </a:buClr>
              <a:buSzPts val="2318"/>
              <a:buFont typeface="Prata"/>
              <a:buNone/>
            </a:pPr>
            <a:r>
              <a:rPr b="0" i="0" lang="en-US" sz="2318" u="none" cap="none" strike="noStrike">
                <a:solidFill>
                  <a:srgbClr val="CFCBBF"/>
                </a:solidFill>
                <a:latin typeface="Prata"/>
                <a:ea typeface="Prata"/>
                <a:cs typeface="Prata"/>
                <a:sym typeface="Prata"/>
              </a:rPr>
              <a:t>Meal History</a:t>
            </a:r>
            <a:endParaRPr b="0" i="0" sz="2318" u="none" cap="none" strike="noStrike"/>
          </a:p>
        </p:txBody>
      </p:sp>
      <p:sp>
        <p:nvSpPr>
          <p:cNvPr id="166" name="Google Shape;166;p19"/>
          <p:cNvSpPr/>
          <p:nvPr/>
        </p:nvSpPr>
        <p:spPr>
          <a:xfrm>
            <a:off x="738338" y="4485526"/>
            <a:ext cx="7417800" cy="3825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CFCBBF"/>
              </a:buClr>
              <a:buSzPts val="1843"/>
              <a:buFont typeface="Raleway"/>
              <a:buNone/>
            </a:pPr>
            <a:r>
              <a:rPr b="0" i="0" lang="en-US" sz="1843" u="none" cap="none" strike="noStrike">
                <a:solidFill>
                  <a:srgbClr val="CFCBBF"/>
                </a:solidFill>
                <a:latin typeface="Raleway"/>
                <a:ea typeface="Raleway"/>
                <a:cs typeface="Raleway"/>
                <a:sym typeface="Raleway"/>
              </a:rPr>
              <a:t>Full log of past meals</a:t>
            </a:r>
            <a:endParaRPr b="0" i="0" sz="1843" u="none" cap="none" strike="noStrike"/>
          </a:p>
        </p:txBody>
      </p:sp>
      <p:pic>
        <p:nvPicPr>
          <p:cNvPr id="167" name="Google Shape;167;p19"/>
          <p:cNvPicPr preferRelativeResize="0"/>
          <p:nvPr/>
        </p:nvPicPr>
        <p:blipFill>
          <a:blip r:embed="rId4">
            <a:alphaModFix/>
          </a:blip>
          <a:stretch>
            <a:fillRect/>
          </a:stretch>
        </p:blipFill>
        <p:spPr>
          <a:xfrm>
            <a:off x="8579880" y="152400"/>
            <a:ext cx="5898120" cy="5812640"/>
          </a:xfrm>
          <a:prstGeom prst="rect">
            <a:avLst/>
          </a:prstGeom>
          <a:noFill/>
          <a:ln>
            <a:noFill/>
          </a:ln>
        </p:spPr>
      </p:pic>
      <p:pic>
        <p:nvPicPr>
          <p:cNvPr id="168" name="Google Shape;168;p19"/>
          <p:cNvPicPr preferRelativeResize="0"/>
          <p:nvPr/>
        </p:nvPicPr>
        <p:blipFill>
          <a:blip r:embed="rId5">
            <a:alphaModFix/>
          </a:blip>
          <a:stretch>
            <a:fillRect/>
          </a:stretch>
        </p:blipFill>
        <p:spPr>
          <a:xfrm>
            <a:off x="3851463" y="3697875"/>
            <a:ext cx="4602100" cy="425150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0"/>
          <p:cNvSpPr/>
          <p:nvPr/>
        </p:nvSpPr>
        <p:spPr>
          <a:xfrm>
            <a:off x="793790" y="2500193"/>
            <a:ext cx="6928485"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F2E782"/>
              </a:buClr>
              <a:buSzPts val="4450"/>
              <a:buFont typeface="Prata"/>
              <a:buNone/>
            </a:pPr>
            <a:r>
              <a:rPr b="0" i="0" lang="en-US" sz="4450" u="none" cap="none" strike="noStrike">
                <a:solidFill>
                  <a:srgbClr val="F2E782"/>
                </a:solidFill>
                <a:latin typeface="Prata"/>
                <a:ea typeface="Prata"/>
                <a:cs typeface="Prata"/>
                <a:sym typeface="Prata"/>
              </a:rPr>
              <a:t>Where AI Powers NutriAI</a:t>
            </a:r>
            <a:endParaRPr b="0" i="0" sz="4450" u="none" cap="none" strike="noStrike"/>
          </a:p>
        </p:txBody>
      </p:sp>
      <p:pic>
        <p:nvPicPr>
          <p:cNvPr descr="preencoded.png" id="175" name="Google Shape;175;p20"/>
          <p:cNvPicPr preferRelativeResize="0"/>
          <p:nvPr/>
        </p:nvPicPr>
        <p:blipFill rotWithShape="1">
          <a:blip r:embed="rId3">
            <a:alphaModFix/>
          </a:blip>
          <a:srcRect b="0" l="0" r="0" t="0"/>
          <a:stretch/>
        </p:blipFill>
        <p:spPr>
          <a:xfrm>
            <a:off x="793790" y="3662601"/>
            <a:ext cx="566976" cy="566976"/>
          </a:xfrm>
          <a:prstGeom prst="rect">
            <a:avLst/>
          </a:prstGeom>
          <a:noFill/>
          <a:ln>
            <a:noFill/>
          </a:ln>
        </p:spPr>
      </p:pic>
      <p:sp>
        <p:nvSpPr>
          <p:cNvPr id="176" name="Google Shape;176;p20"/>
          <p:cNvSpPr/>
          <p:nvPr/>
        </p:nvSpPr>
        <p:spPr>
          <a:xfrm>
            <a:off x="793790" y="4513064"/>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CFCBBF"/>
              </a:buClr>
              <a:buSzPts val="2200"/>
              <a:buFont typeface="Prata"/>
              <a:buNone/>
            </a:pPr>
            <a:r>
              <a:rPr b="0" i="0" lang="en-US" sz="2200" u="none" cap="none" strike="noStrike">
                <a:solidFill>
                  <a:srgbClr val="CFCBBF"/>
                </a:solidFill>
                <a:latin typeface="Prata"/>
                <a:ea typeface="Prata"/>
                <a:cs typeface="Prata"/>
                <a:sym typeface="Prata"/>
              </a:rPr>
              <a:t>Vision Recognition</a:t>
            </a:r>
            <a:endParaRPr b="0" i="0" sz="2200" u="none" cap="none" strike="noStrike"/>
          </a:p>
        </p:txBody>
      </p:sp>
      <p:sp>
        <p:nvSpPr>
          <p:cNvPr id="177" name="Google Shape;177;p20"/>
          <p:cNvSpPr/>
          <p:nvPr/>
        </p:nvSpPr>
        <p:spPr>
          <a:xfrm>
            <a:off x="793790" y="5003483"/>
            <a:ext cx="4158615"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CFCBBF"/>
              </a:buClr>
              <a:buSzPts val="1750"/>
              <a:buFont typeface="Raleway"/>
              <a:buNone/>
            </a:pPr>
            <a:r>
              <a:rPr lang="en-US" sz="1750">
                <a:solidFill>
                  <a:srgbClr val="CFCBBF"/>
                </a:solidFill>
                <a:latin typeface="Raleway"/>
                <a:ea typeface="Raleway"/>
                <a:cs typeface="Raleway"/>
                <a:sym typeface="Raleway"/>
              </a:rPr>
              <a:t>Google Gemini 2.5 Flash</a:t>
            </a:r>
            <a:r>
              <a:rPr b="0" i="0" lang="en-US" sz="1750" u="none" cap="none" strike="noStrike">
                <a:solidFill>
                  <a:srgbClr val="CFCBBF"/>
                </a:solidFill>
                <a:latin typeface="Raleway"/>
                <a:ea typeface="Raleway"/>
                <a:cs typeface="Raleway"/>
                <a:sym typeface="Raleway"/>
              </a:rPr>
              <a:t> identifies food from photos</a:t>
            </a:r>
            <a:endParaRPr b="0" i="0" sz="1750" u="none" cap="none" strike="noStrike"/>
          </a:p>
        </p:txBody>
      </p:sp>
      <p:pic>
        <p:nvPicPr>
          <p:cNvPr descr="preencoded.png" id="178" name="Google Shape;178;p20"/>
          <p:cNvPicPr preferRelativeResize="0"/>
          <p:nvPr/>
        </p:nvPicPr>
        <p:blipFill rotWithShape="1">
          <a:blip r:embed="rId4">
            <a:alphaModFix/>
          </a:blip>
          <a:srcRect b="0" l="0" r="0" t="0"/>
          <a:stretch/>
        </p:blipFill>
        <p:spPr>
          <a:xfrm>
            <a:off x="5235893" y="3662601"/>
            <a:ext cx="566976" cy="566976"/>
          </a:xfrm>
          <a:prstGeom prst="rect">
            <a:avLst/>
          </a:prstGeom>
          <a:noFill/>
          <a:ln>
            <a:noFill/>
          </a:ln>
        </p:spPr>
      </p:pic>
      <p:sp>
        <p:nvSpPr>
          <p:cNvPr id="179" name="Google Shape;179;p20"/>
          <p:cNvSpPr/>
          <p:nvPr/>
        </p:nvSpPr>
        <p:spPr>
          <a:xfrm>
            <a:off x="5235893" y="4513064"/>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CFCBBF"/>
              </a:buClr>
              <a:buSzPts val="2200"/>
              <a:buFont typeface="Prata"/>
              <a:buNone/>
            </a:pPr>
            <a:r>
              <a:rPr b="0" i="0" lang="en-US" sz="2200" u="none" cap="none" strike="noStrike">
                <a:solidFill>
                  <a:srgbClr val="CFCBBF"/>
                </a:solidFill>
                <a:latin typeface="Prata"/>
                <a:ea typeface="Prata"/>
                <a:cs typeface="Prata"/>
                <a:sym typeface="Prata"/>
              </a:rPr>
              <a:t>Smart Search</a:t>
            </a:r>
            <a:endParaRPr b="0" i="0" sz="2200" u="none" cap="none" strike="noStrike"/>
          </a:p>
        </p:txBody>
      </p:sp>
      <p:sp>
        <p:nvSpPr>
          <p:cNvPr id="180" name="Google Shape;180;p20"/>
          <p:cNvSpPr/>
          <p:nvPr/>
        </p:nvSpPr>
        <p:spPr>
          <a:xfrm>
            <a:off x="5235893" y="5003483"/>
            <a:ext cx="4158615"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CFCBBF"/>
              </a:buClr>
              <a:buSzPts val="1750"/>
              <a:buFont typeface="Raleway"/>
              <a:buNone/>
            </a:pPr>
            <a:r>
              <a:rPr b="0" i="0" lang="en-US" sz="1750" u="none" cap="none" strike="noStrike">
                <a:solidFill>
                  <a:srgbClr val="CFCBBF"/>
                </a:solidFill>
                <a:latin typeface="Raleway"/>
                <a:ea typeface="Raleway"/>
                <a:cs typeface="Raleway"/>
                <a:sym typeface="Raleway"/>
              </a:rPr>
              <a:t>Autocomplete + suggestions based on past behavior</a:t>
            </a:r>
            <a:endParaRPr b="0" i="0" sz="1750" u="none" cap="none" strike="noStrike"/>
          </a:p>
        </p:txBody>
      </p:sp>
      <p:pic>
        <p:nvPicPr>
          <p:cNvPr descr="preencoded.png" id="181" name="Google Shape;181;p20"/>
          <p:cNvPicPr preferRelativeResize="0"/>
          <p:nvPr/>
        </p:nvPicPr>
        <p:blipFill rotWithShape="1">
          <a:blip r:embed="rId5">
            <a:alphaModFix/>
          </a:blip>
          <a:srcRect b="0" l="0" r="0" t="0"/>
          <a:stretch/>
        </p:blipFill>
        <p:spPr>
          <a:xfrm>
            <a:off x="9677995" y="3662601"/>
            <a:ext cx="566976" cy="566976"/>
          </a:xfrm>
          <a:prstGeom prst="rect">
            <a:avLst/>
          </a:prstGeom>
          <a:noFill/>
          <a:ln>
            <a:noFill/>
          </a:ln>
        </p:spPr>
      </p:pic>
      <p:sp>
        <p:nvSpPr>
          <p:cNvPr id="182" name="Google Shape;182;p20"/>
          <p:cNvSpPr/>
          <p:nvPr/>
        </p:nvSpPr>
        <p:spPr>
          <a:xfrm>
            <a:off x="9677995" y="4513064"/>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CFCBBF"/>
              </a:buClr>
              <a:buSzPts val="2200"/>
              <a:buFont typeface="Prata"/>
              <a:buNone/>
            </a:pPr>
            <a:r>
              <a:rPr b="0" i="0" lang="en-US" sz="2200" u="none" cap="none" strike="noStrike">
                <a:solidFill>
                  <a:srgbClr val="CFCBBF"/>
                </a:solidFill>
                <a:latin typeface="Prata"/>
                <a:ea typeface="Prata"/>
                <a:cs typeface="Prata"/>
                <a:sym typeface="Prata"/>
              </a:rPr>
              <a:t>Personalized Advice</a:t>
            </a:r>
            <a:endParaRPr b="0" i="0" sz="2200" u="none" cap="none" strike="noStrike"/>
          </a:p>
        </p:txBody>
      </p:sp>
      <p:sp>
        <p:nvSpPr>
          <p:cNvPr id="183" name="Google Shape;183;p20"/>
          <p:cNvSpPr/>
          <p:nvPr/>
        </p:nvSpPr>
        <p:spPr>
          <a:xfrm>
            <a:off x="9677995" y="5003483"/>
            <a:ext cx="4158615"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CFCBBF"/>
              </a:buClr>
              <a:buSzPts val="1750"/>
              <a:buFont typeface="Raleway"/>
              <a:buNone/>
            </a:pPr>
            <a:r>
              <a:rPr b="0" i="0" lang="en-US" sz="1750" u="none" cap="none" strike="noStrike">
                <a:solidFill>
                  <a:srgbClr val="CFCBBF"/>
                </a:solidFill>
                <a:latin typeface="Raleway"/>
                <a:ea typeface="Raleway"/>
                <a:cs typeface="Raleway"/>
                <a:sym typeface="Raleway"/>
              </a:rPr>
              <a:t>Recommendations improve over time with user history</a:t>
            </a:r>
            <a:endParaRPr b="0" i="0" sz="1750" u="none" cap="none" strike="noStrike"/>
          </a:p>
        </p:txBody>
      </p:sp>
      <p:pic>
        <p:nvPicPr>
          <p:cNvPr id="184" name="Google Shape;184;p20" title="Screenshot 2026-04-27 at 1.44.32 PM.png"/>
          <p:cNvPicPr preferRelativeResize="0"/>
          <p:nvPr/>
        </p:nvPicPr>
        <p:blipFill>
          <a:blip r:embed="rId6">
            <a:alphaModFix/>
          </a:blip>
          <a:stretch>
            <a:fillRect/>
          </a:stretch>
        </p:blipFill>
        <p:spPr>
          <a:xfrm>
            <a:off x="12668250" y="7562853"/>
            <a:ext cx="1962150" cy="6667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21"/>
          <p:cNvSpPr/>
          <p:nvPr/>
        </p:nvSpPr>
        <p:spPr>
          <a:xfrm>
            <a:off x="793790" y="1205984"/>
            <a:ext cx="5670590"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F2E782"/>
              </a:buClr>
              <a:buSzPts val="4450"/>
              <a:buFont typeface="Prata"/>
              <a:buNone/>
            </a:pPr>
            <a:r>
              <a:rPr b="0" i="0" lang="en-US" sz="4450" u="none" cap="none" strike="noStrike">
                <a:solidFill>
                  <a:srgbClr val="F2E782"/>
                </a:solidFill>
                <a:latin typeface="Prata"/>
                <a:ea typeface="Prata"/>
                <a:cs typeface="Prata"/>
                <a:sym typeface="Prata"/>
              </a:rPr>
              <a:t>Tech Stack</a:t>
            </a:r>
            <a:endParaRPr b="0" i="0" sz="4450" u="none" cap="none" strike="noStrike"/>
          </a:p>
        </p:txBody>
      </p:sp>
      <p:sp>
        <p:nvSpPr>
          <p:cNvPr id="191" name="Google Shape;191;p21"/>
          <p:cNvSpPr/>
          <p:nvPr/>
        </p:nvSpPr>
        <p:spPr>
          <a:xfrm>
            <a:off x="793790" y="2368391"/>
            <a:ext cx="6407944" cy="2214205"/>
          </a:xfrm>
          <a:prstGeom prst="roundRect">
            <a:avLst>
              <a:gd fmla="val 1537" name="adj"/>
            </a:avLst>
          </a:prstGeom>
          <a:solidFill>
            <a:srgbClr val="3A3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92" name="Google Shape;192;p21"/>
          <p:cNvPicPr preferRelativeResize="0"/>
          <p:nvPr/>
        </p:nvPicPr>
        <p:blipFill rotWithShape="1">
          <a:blip r:embed="rId3">
            <a:alphaModFix/>
          </a:blip>
          <a:srcRect b="0" l="0" r="0" t="0"/>
          <a:stretch/>
        </p:blipFill>
        <p:spPr>
          <a:xfrm>
            <a:off x="1020604" y="2595205"/>
            <a:ext cx="680442" cy="680442"/>
          </a:xfrm>
          <a:prstGeom prst="rect">
            <a:avLst/>
          </a:prstGeom>
          <a:noFill/>
          <a:ln>
            <a:noFill/>
          </a:ln>
        </p:spPr>
      </p:pic>
      <p:pic>
        <p:nvPicPr>
          <p:cNvPr descr="preencoded.png" id="193" name="Google Shape;193;p21"/>
          <p:cNvPicPr preferRelativeResize="0"/>
          <p:nvPr/>
        </p:nvPicPr>
        <p:blipFill rotWithShape="1">
          <a:blip r:embed="rId4">
            <a:alphaModFix/>
          </a:blip>
          <a:srcRect b="0" l="0" r="0" t="0"/>
          <a:stretch/>
        </p:blipFill>
        <p:spPr>
          <a:xfrm>
            <a:off x="1207770" y="2782253"/>
            <a:ext cx="306110" cy="306110"/>
          </a:xfrm>
          <a:prstGeom prst="rect">
            <a:avLst/>
          </a:prstGeom>
          <a:noFill/>
          <a:ln>
            <a:noFill/>
          </a:ln>
        </p:spPr>
      </p:pic>
      <p:sp>
        <p:nvSpPr>
          <p:cNvPr id="194" name="Google Shape;194;p21"/>
          <p:cNvSpPr/>
          <p:nvPr/>
        </p:nvSpPr>
        <p:spPr>
          <a:xfrm>
            <a:off x="1020604" y="3502462"/>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CFCBBF"/>
              </a:buClr>
              <a:buSzPts val="2200"/>
              <a:buFont typeface="Prata"/>
              <a:buNone/>
            </a:pPr>
            <a:r>
              <a:rPr b="0" i="0" lang="en-US" sz="2200" u="none" cap="none" strike="noStrike">
                <a:solidFill>
                  <a:srgbClr val="CFCBBF"/>
                </a:solidFill>
                <a:latin typeface="Prata"/>
                <a:ea typeface="Prata"/>
                <a:cs typeface="Prata"/>
                <a:sym typeface="Prata"/>
              </a:rPr>
              <a:t>Frontend</a:t>
            </a:r>
            <a:endParaRPr b="0" i="0" sz="2200" u="none" cap="none" strike="noStrike"/>
          </a:p>
        </p:txBody>
      </p:sp>
      <p:sp>
        <p:nvSpPr>
          <p:cNvPr id="195" name="Google Shape;195;p21"/>
          <p:cNvSpPr/>
          <p:nvPr/>
        </p:nvSpPr>
        <p:spPr>
          <a:xfrm>
            <a:off x="1020604" y="3992880"/>
            <a:ext cx="5954316" cy="36290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CFCBBF"/>
              </a:buClr>
              <a:buSzPts val="1750"/>
              <a:buFont typeface="Raleway"/>
              <a:buNone/>
            </a:pPr>
            <a:r>
              <a:rPr b="0" i="0" lang="en-US" sz="1750" u="none" cap="none" strike="noStrike">
                <a:solidFill>
                  <a:srgbClr val="CFCBBF"/>
                </a:solidFill>
                <a:latin typeface="Raleway"/>
                <a:ea typeface="Raleway"/>
                <a:cs typeface="Raleway"/>
                <a:sym typeface="Raleway"/>
              </a:rPr>
              <a:t>React — mobile-first, responsive</a:t>
            </a:r>
            <a:endParaRPr b="0" i="0" sz="1750" u="none" cap="none" strike="noStrike"/>
          </a:p>
        </p:txBody>
      </p:sp>
      <p:sp>
        <p:nvSpPr>
          <p:cNvPr id="196" name="Google Shape;196;p21"/>
          <p:cNvSpPr/>
          <p:nvPr/>
        </p:nvSpPr>
        <p:spPr>
          <a:xfrm>
            <a:off x="7428548" y="2368391"/>
            <a:ext cx="6408063" cy="2214205"/>
          </a:xfrm>
          <a:prstGeom prst="roundRect">
            <a:avLst>
              <a:gd fmla="val 1537" name="adj"/>
            </a:avLst>
          </a:prstGeom>
          <a:solidFill>
            <a:srgbClr val="3A3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97" name="Google Shape;197;p21"/>
          <p:cNvPicPr preferRelativeResize="0"/>
          <p:nvPr/>
        </p:nvPicPr>
        <p:blipFill rotWithShape="1">
          <a:blip r:embed="rId5">
            <a:alphaModFix/>
          </a:blip>
          <a:srcRect b="0" l="0" r="0" t="0"/>
          <a:stretch/>
        </p:blipFill>
        <p:spPr>
          <a:xfrm>
            <a:off x="7655362" y="2595205"/>
            <a:ext cx="680442" cy="680442"/>
          </a:xfrm>
          <a:prstGeom prst="rect">
            <a:avLst/>
          </a:prstGeom>
          <a:noFill/>
          <a:ln>
            <a:noFill/>
          </a:ln>
        </p:spPr>
      </p:pic>
      <p:pic>
        <p:nvPicPr>
          <p:cNvPr descr="preencoded.png" id="198" name="Google Shape;198;p21"/>
          <p:cNvPicPr preferRelativeResize="0"/>
          <p:nvPr/>
        </p:nvPicPr>
        <p:blipFill rotWithShape="1">
          <a:blip r:embed="rId6">
            <a:alphaModFix/>
          </a:blip>
          <a:srcRect b="0" l="0" r="0" t="0"/>
          <a:stretch/>
        </p:blipFill>
        <p:spPr>
          <a:xfrm>
            <a:off x="7842528" y="2782253"/>
            <a:ext cx="306110" cy="306110"/>
          </a:xfrm>
          <a:prstGeom prst="rect">
            <a:avLst/>
          </a:prstGeom>
          <a:noFill/>
          <a:ln>
            <a:noFill/>
          </a:ln>
        </p:spPr>
      </p:pic>
      <p:sp>
        <p:nvSpPr>
          <p:cNvPr id="199" name="Google Shape;199;p21"/>
          <p:cNvSpPr/>
          <p:nvPr/>
        </p:nvSpPr>
        <p:spPr>
          <a:xfrm>
            <a:off x="7655362" y="3502462"/>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CFCBBF"/>
              </a:buClr>
              <a:buSzPts val="2200"/>
              <a:buFont typeface="Prata"/>
              <a:buNone/>
            </a:pPr>
            <a:r>
              <a:rPr b="0" i="0" lang="en-US" sz="2200" u="none" cap="none" strike="noStrike">
                <a:solidFill>
                  <a:srgbClr val="CFCBBF"/>
                </a:solidFill>
                <a:latin typeface="Prata"/>
                <a:ea typeface="Prata"/>
                <a:cs typeface="Prata"/>
                <a:sym typeface="Prata"/>
              </a:rPr>
              <a:t>Backend</a:t>
            </a:r>
            <a:endParaRPr b="0" i="0" sz="2200" u="none" cap="none" strike="noStrike"/>
          </a:p>
        </p:txBody>
      </p:sp>
      <p:sp>
        <p:nvSpPr>
          <p:cNvPr id="200" name="Google Shape;200;p21"/>
          <p:cNvSpPr/>
          <p:nvPr/>
        </p:nvSpPr>
        <p:spPr>
          <a:xfrm>
            <a:off x="7655362" y="3992880"/>
            <a:ext cx="5954435" cy="36290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CFCBBF"/>
              </a:buClr>
              <a:buSzPts val="1750"/>
              <a:buFont typeface="Raleway"/>
              <a:buNone/>
            </a:pPr>
            <a:r>
              <a:rPr b="0" i="0" lang="en-US" sz="1750" u="none" cap="none" strike="noStrike">
                <a:solidFill>
                  <a:srgbClr val="CFCBBF"/>
                </a:solidFill>
                <a:latin typeface="Raleway"/>
                <a:ea typeface="Raleway"/>
                <a:cs typeface="Raleway"/>
                <a:sym typeface="Raleway"/>
              </a:rPr>
              <a:t>Node.js / Express or serverless</a:t>
            </a:r>
            <a:endParaRPr b="0" i="0" sz="1750" u="none" cap="none" strike="noStrike"/>
          </a:p>
        </p:txBody>
      </p:sp>
      <p:sp>
        <p:nvSpPr>
          <p:cNvPr id="201" name="Google Shape;201;p21"/>
          <p:cNvSpPr/>
          <p:nvPr/>
        </p:nvSpPr>
        <p:spPr>
          <a:xfrm>
            <a:off x="793790" y="4809411"/>
            <a:ext cx="6407944" cy="2214205"/>
          </a:xfrm>
          <a:prstGeom prst="roundRect">
            <a:avLst>
              <a:gd fmla="val 1537" name="adj"/>
            </a:avLst>
          </a:prstGeom>
          <a:solidFill>
            <a:srgbClr val="3A3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02" name="Google Shape;202;p21"/>
          <p:cNvPicPr preferRelativeResize="0"/>
          <p:nvPr/>
        </p:nvPicPr>
        <p:blipFill rotWithShape="1">
          <a:blip r:embed="rId7">
            <a:alphaModFix/>
          </a:blip>
          <a:srcRect b="0" l="0" r="0" t="0"/>
          <a:stretch/>
        </p:blipFill>
        <p:spPr>
          <a:xfrm>
            <a:off x="1020604" y="5036225"/>
            <a:ext cx="680442" cy="680442"/>
          </a:xfrm>
          <a:prstGeom prst="rect">
            <a:avLst/>
          </a:prstGeom>
          <a:noFill/>
          <a:ln>
            <a:noFill/>
          </a:ln>
        </p:spPr>
      </p:pic>
      <p:pic>
        <p:nvPicPr>
          <p:cNvPr descr="preencoded.png" id="203" name="Google Shape;203;p21"/>
          <p:cNvPicPr preferRelativeResize="0"/>
          <p:nvPr/>
        </p:nvPicPr>
        <p:blipFill rotWithShape="1">
          <a:blip r:embed="rId8">
            <a:alphaModFix/>
          </a:blip>
          <a:srcRect b="0" l="0" r="0" t="0"/>
          <a:stretch/>
        </p:blipFill>
        <p:spPr>
          <a:xfrm>
            <a:off x="1207770" y="5223272"/>
            <a:ext cx="306110" cy="306110"/>
          </a:xfrm>
          <a:prstGeom prst="rect">
            <a:avLst/>
          </a:prstGeom>
          <a:noFill/>
          <a:ln>
            <a:noFill/>
          </a:ln>
        </p:spPr>
      </p:pic>
      <p:sp>
        <p:nvSpPr>
          <p:cNvPr id="204" name="Google Shape;204;p21"/>
          <p:cNvSpPr/>
          <p:nvPr/>
        </p:nvSpPr>
        <p:spPr>
          <a:xfrm>
            <a:off x="1020604" y="5943481"/>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CFCBBF"/>
              </a:buClr>
              <a:buSzPts val="2200"/>
              <a:buFont typeface="Prata"/>
              <a:buNone/>
            </a:pPr>
            <a:r>
              <a:rPr b="0" i="0" lang="en-US" sz="2200" u="none" cap="none" strike="noStrike">
                <a:solidFill>
                  <a:srgbClr val="CFCBBF"/>
                </a:solidFill>
                <a:latin typeface="Prata"/>
                <a:ea typeface="Prata"/>
                <a:cs typeface="Prata"/>
                <a:sym typeface="Prata"/>
              </a:rPr>
              <a:t>Database</a:t>
            </a:r>
            <a:endParaRPr b="0" i="0" sz="2200" u="none" cap="none" strike="noStrike"/>
          </a:p>
        </p:txBody>
      </p:sp>
      <p:sp>
        <p:nvSpPr>
          <p:cNvPr id="205" name="Google Shape;205;p21"/>
          <p:cNvSpPr/>
          <p:nvPr/>
        </p:nvSpPr>
        <p:spPr>
          <a:xfrm>
            <a:off x="1020604" y="6433899"/>
            <a:ext cx="5954316" cy="36290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CFCBBF"/>
              </a:buClr>
              <a:buSzPts val="1750"/>
              <a:buFont typeface="Raleway"/>
              <a:buNone/>
            </a:pPr>
            <a:r>
              <a:rPr b="0" i="0" lang="en-US" sz="1750" u="none" cap="none" strike="noStrike">
                <a:solidFill>
                  <a:srgbClr val="CFCBBF"/>
                </a:solidFill>
                <a:latin typeface="Raleway"/>
                <a:ea typeface="Raleway"/>
                <a:cs typeface="Raleway"/>
                <a:sym typeface="Raleway"/>
              </a:rPr>
              <a:t>Supabase</a:t>
            </a:r>
            <a:endParaRPr b="0" i="0" sz="1750" u="none" cap="none" strike="noStrike"/>
          </a:p>
        </p:txBody>
      </p:sp>
      <p:sp>
        <p:nvSpPr>
          <p:cNvPr id="206" name="Google Shape;206;p21"/>
          <p:cNvSpPr/>
          <p:nvPr/>
        </p:nvSpPr>
        <p:spPr>
          <a:xfrm>
            <a:off x="7428548" y="4809411"/>
            <a:ext cx="6408063" cy="2214205"/>
          </a:xfrm>
          <a:prstGeom prst="roundRect">
            <a:avLst>
              <a:gd fmla="val 1537" name="adj"/>
            </a:avLst>
          </a:prstGeom>
          <a:solidFill>
            <a:srgbClr val="3A3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07" name="Google Shape;207;p21"/>
          <p:cNvPicPr preferRelativeResize="0"/>
          <p:nvPr/>
        </p:nvPicPr>
        <p:blipFill rotWithShape="1">
          <a:blip r:embed="rId9">
            <a:alphaModFix/>
          </a:blip>
          <a:srcRect b="0" l="0" r="0" t="0"/>
          <a:stretch/>
        </p:blipFill>
        <p:spPr>
          <a:xfrm>
            <a:off x="7655362" y="5036225"/>
            <a:ext cx="680442" cy="680442"/>
          </a:xfrm>
          <a:prstGeom prst="rect">
            <a:avLst/>
          </a:prstGeom>
          <a:noFill/>
          <a:ln>
            <a:noFill/>
          </a:ln>
        </p:spPr>
      </p:pic>
      <p:pic>
        <p:nvPicPr>
          <p:cNvPr descr="preencoded.png" id="208" name="Google Shape;208;p21"/>
          <p:cNvPicPr preferRelativeResize="0"/>
          <p:nvPr/>
        </p:nvPicPr>
        <p:blipFill rotWithShape="1">
          <a:blip r:embed="rId10">
            <a:alphaModFix/>
          </a:blip>
          <a:srcRect b="0" l="0" r="0" t="0"/>
          <a:stretch/>
        </p:blipFill>
        <p:spPr>
          <a:xfrm>
            <a:off x="7842528" y="5223272"/>
            <a:ext cx="306110" cy="306110"/>
          </a:xfrm>
          <a:prstGeom prst="rect">
            <a:avLst/>
          </a:prstGeom>
          <a:noFill/>
          <a:ln>
            <a:noFill/>
          </a:ln>
        </p:spPr>
      </p:pic>
      <p:sp>
        <p:nvSpPr>
          <p:cNvPr id="209" name="Google Shape;209;p21"/>
          <p:cNvSpPr/>
          <p:nvPr/>
        </p:nvSpPr>
        <p:spPr>
          <a:xfrm>
            <a:off x="7655362" y="5943481"/>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CFCBBF"/>
              </a:buClr>
              <a:buSzPts val="2200"/>
              <a:buFont typeface="Prata"/>
              <a:buNone/>
            </a:pPr>
            <a:r>
              <a:rPr b="0" i="0" lang="en-US" sz="2200" u="none" cap="none" strike="noStrike">
                <a:solidFill>
                  <a:srgbClr val="CFCBBF"/>
                </a:solidFill>
                <a:latin typeface="Prata"/>
                <a:ea typeface="Prata"/>
                <a:cs typeface="Prata"/>
                <a:sym typeface="Prata"/>
              </a:rPr>
              <a:t>APIs</a:t>
            </a:r>
            <a:endParaRPr b="0" i="0" sz="2200" u="none" cap="none" strike="noStrike"/>
          </a:p>
        </p:txBody>
      </p:sp>
      <p:sp>
        <p:nvSpPr>
          <p:cNvPr id="210" name="Google Shape;210;p21"/>
          <p:cNvSpPr/>
          <p:nvPr/>
        </p:nvSpPr>
        <p:spPr>
          <a:xfrm>
            <a:off x="7655362" y="6433899"/>
            <a:ext cx="5954435" cy="36290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CFCBBF"/>
              </a:buClr>
              <a:buSzPts val="1750"/>
              <a:buFont typeface="Raleway"/>
              <a:buNone/>
            </a:pPr>
            <a:r>
              <a:rPr b="0" i="0" lang="en-US" sz="1750" u="none" cap="none" strike="noStrike">
                <a:solidFill>
                  <a:srgbClr val="CFCBBF"/>
                </a:solidFill>
                <a:latin typeface="Raleway"/>
                <a:ea typeface="Raleway"/>
                <a:cs typeface="Raleway"/>
                <a:sym typeface="Raleway"/>
              </a:rPr>
              <a:t>Nutritionix · </a:t>
            </a:r>
            <a:r>
              <a:rPr lang="en-US" sz="1750">
                <a:solidFill>
                  <a:srgbClr val="CFCBBF"/>
                </a:solidFill>
                <a:latin typeface="Raleway"/>
                <a:ea typeface="Raleway"/>
                <a:cs typeface="Raleway"/>
                <a:sym typeface="Raleway"/>
              </a:rPr>
              <a:t>Gemini</a:t>
            </a:r>
            <a:r>
              <a:rPr b="0" i="0" lang="en-US" sz="1750" u="none" cap="none" strike="noStrike">
                <a:solidFill>
                  <a:srgbClr val="CFCBBF"/>
                </a:solidFill>
                <a:latin typeface="Raleway"/>
                <a:ea typeface="Raleway"/>
                <a:cs typeface="Raleway"/>
                <a:sym typeface="Raleway"/>
              </a:rPr>
              <a:t> </a:t>
            </a:r>
            <a:r>
              <a:rPr lang="en-US" sz="1750">
                <a:solidFill>
                  <a:srgbClr val="CFCBBF"/>
                </a:solidFill>
                <a:latin typeface="Raleway"/>
                <a:ea typeface="Raleway"/>
                <a:cs typeface="Raleway"/>
                <a:sym typeface="Raleway"/>
              </a:rPr>
              <a:t>Flash 2.5</a:t>
            </a:r>
            <a:endParaRPr b="0" i="0" sz="1750" u="none" cap="none" strike="noStrike"/>
          </a:p>
        </p:txBody>
      </p:sp>
      <p:pic>
        <p:nvPicPr>
          <p:cNvPr id="211" name="Google Shape;211;p21" title="Screenshot 2026-04-27 at 1.44.32 PM.png"/>
          <p:cNvPicPr preferRelativeResize="0"/>
          <p:nvPr/>
        </p:nvPicPr>
        <p:blipFill>
          <a:blip r:embed="rId11">
            <a:alphaModFix/>
          </a:blip>
          <a:stretch>
            <a:fillRect/>
          </a:stretch>
        </p:blipFill>
        <p:spPr>
          <a:xfrm>
            <a:off x="12668250" y="7562853"/>
            <a:ext cx="1962150" cy="6667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22"/>
          <p:cNvSpPr/>
          <p:nvPr/>
        </p:nvSpPr>
        <p:spPr>
          <a:xfrm>
            <a:off x="611525" y="2121025"/>
            <a:ext cx="8475900" cy="3987600"/>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F2E782"/>
              </a:buClr>
              <a:buSzPts val="4450"/>
              <a:buFont typeface="Prata"/>
              <a:buNone/>
            </a:pPr>
            <a:r>
              <a:rPr b="0" i="0" lang="en-US" sz="9900" u="none" cap="none" strike="noStrike">
                <a:solidFill>
                  <a:srgbClr val="F2E782"/>
                </a:solidFill>
                <a:latin typeface="Prata"/>
                <a:ea typeface="Prata"/>
                <a:cs typeface="Prata"/>
                <a:sym typeface="Prata"/>
              </a:rPr>
              <a:t>App</a:t>
            </a:r>
            <a:endParaRPr b="0" i="0" sz="9900" u="none" cap="none" strike="noStrike">
              <a:solidFill>
                <a:srgbClr val="F2E782"/>
              </a:solidFill>
              <a:latin typeface="Prata"/>
              <a:ea typeface="Prata"/>
              <a:cs typeface="Prata"/>
              <a:sym typeface="Prata"/>
            </a:endParaRPr>
          </a:p>
          <a:p>
            <a:pPr indent="0" lvl="0" marL="0" marR="0" rtl="0" algn="l">
              <a:lnSpc>
                <a:spcPct val="124719"/>
              </a:lnSpc>
              <a:spcBef>
                <a:spcPts val="0"/>
              </a:spcBef>
              <a:spcAft>
                <a:spcPts val="0"/>
              </a:spcAft>
              <a:buClr>
                <a:srgbClr val="F2E782"/>
              </a:buClr>
              <a:buSzPts val="4450"/>
              <a:buFont typeface="Prata"/>
              <a:buNone/>
            </a:pPr>
            <a:r>
              <a:rPr b="0" i="0" lang="en-US" sz="9900" u="none" cap="none" strike="noStrike">
                <a:solidFill>
                  <a:srgbClr val="F2E782"/>
                </a:solidFill>
                <a:latin typeface="Prata"/>
                <a:ea typeface="Prata"/>
                <a:cs typeface="Prata"/>
                <a:sym typeface="Prata"/>
              </a:rPr>
              <a:t>Walkthrough</a:t>
            </a:r>
            <a:endParaRPr b="0" i="0" sz="9600" u="none" cap="none" strike="noStrike"/>
          </a:p>
        </p:txBody>
      </p:sp>
      <p:pic>
        <p:nvPicPr>
          <p:cNvPr id="218" name="Google Shape;218;p22" title="Screenshot 2026-04-27 at 1.44.32 PM.png"/>
          <p:cNvPicPr preferRelativeResize="0"/>
          <p:nvPr/>
        </p:nvPicPr>
        <p:blipFill>
          <a:blip r:embed="rId3">
            <a:alphaModFix/>
          </a:blip>
          <a:stretch>
            <a:fillRect/>
          </a:stretch>
        </p:blipFill>
        <p:spPr>
          <a:xfrm>
            <a:off x="12668250" y="7562853"/>
            <a:ext cx="1962150" cy="666750"/>
          </a:xfrm>
          <a:prstGeom prst="rect">
            <a:avLst/>
          </a:prstGeom>
          <a:noFill/>
          <a:ln>
            <a:noFill/>
          </a:ln>
        </p:spPr>
      </p:pic>
      <p:pic>
        <p:nvPicPr>
          <p:cNvPr id="219" name="Google Shape;219;p22" title="demo.mp4">
            <a:hlinkClick r:id="rId4"/>
          </p:cNvPr>
          <p:cNvPicPr preferRelativeResize="0"/>
          <p:nvPr/>
        </p:nvPicPr>
        <p:blipFill>
          <a:blip r:embed="rId5">
            <a:alphaModFix/>
          </a:blip>
          <a:stretch>
            <a:fillRect/>
          </a:stretch>
        </p:blipFill>
        <p:spPr>
          <a:xfrm>
            <a:off x="9261826" y="115800"/>
            <a:ext cx="4498848" cy="799797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9"/>
                                        </p:tgtEl>
                                        <p:attrNameLst>
                                          <p:attrName>style.visibility</p:attrName>
                                        </p:attrNameLst>
                                      </p:cBhvr>
                                      <p:to>
                                        <p:strVal val="visible"/>
                                      </p:to>
                                    </p:set>
                                    <p:animEffect filter="fade" transition="in">
                                      <p:cBhvr>
                                        <p:cTn dur="1000"/>
                                        <p:tgtEl>
                                          <p:spTgt spid="21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23"/>
          <p:cNvSpPr/>
          <p:nvPr/>
        </p:nvSpPr>
        <p:spPr>
          <a:xfrm>
            <a:off x="4479900" y="2844001"/>
            <a:ext cx="5670600" cy="2541600"/>
          </a:xfrm>
          <a:prstGeom prst="rect">
            <a:avLst/>
          </a:prstGeom>
          <a:noFill/>
          <a:ln>
            <a:noFill/>
          </a:ln>
        </p:spPr>
        <p:txBody>
          <a:bodyPr anchorCtr="0" anchor="t" bIns="0" lIns="0" spcFirstLastPara="1" rIns="0" wrap="square" tIns="0">
            <a:noAutofit/>
          </a:bodyPr>
          <a:lstStyle/>
          <a:p>
            <a:pPr indent="0" lvl="0" marL="0" marR="0" rtl="0" algn="ctr">
              <a:lnSpc>
                <a:spcPct val="124719"/>
              </a:lnSpc>
              <a:spcBef>
                <a:spcPts val="0"/>
              </a:spcBef>
              <a:spcAft>
                <a:spcPts val="0"/>
              </a:spcAft>
              <a:buClr>
                <a:srgbClr val="F2E782"/>
              </a:buClr>
              <a:buSzPts val="4450"/>
              <a:buFont typeface="Prata"/>
              <a:buNone/>
            </a:pPr>
            <a:r>
              <a:rPr lang="en-US" sz="5750">
                <a:solidFill>
                  <a:srgbClr val="F2E782"/>
                </a:solidFill>
                <a:latin typeface="Prata"/>
                <a:ea typeface="Prata"/>
                <a:cs typeface="Prata"/>
                <a:sym typeface="Prata"/>
              </a:rPr>
              <a:t>Thank you!</a:t>
            </a:r>
            <a:endParaRPr sz="5750">
              <a:solidFill>
                <a:srgbClr val="F2E782"/>
              </a:solidFill>
              <a:latin typeface="Prata"/>
              <a:ea typeface="Prata"/>
              <a:cs typeface="Prata"/>
              <a:sym typeface="Prata"/>
            </a:endParaRPr>
          </a:p>
          <a:p>
            <a:pPr indent="0" lvl="0" marL="0" marR="0" rtl="0" algn="ctr">
              <a:lnSpc>
                <a:spcPct val="124719"/>
              </a:lnSpc>
              <a:spcBef>
                <a:spcPts val="0"/>
              </a:spcBef>
              <a:spcAft>
                <a:spcPts val="0"/>
              </a:spcAft>
              <a:buClr>
                <a:srgbClr val="F2E782"/>
              </a:buClr>
              <a:buSzPts val="4450"/>
              <a:buFont typeface="Prata"/>
              <a:buNone/>
            </a:pPr>
            <a:r>
              <a:rPr lang="en-US" sz="5750">
                <a:solidFill>
                  <a:srgbClr val="F2E782"/>
                </a:solidFill>
                <a:latin typeface="Prata"/>
                <a:ea typeface="Prata"/>
                <a:cs typeface="Prata"/>
                <a:sym typeface="Prata"/>
              </a:rPr>
              <a:t>Questions?</a:t>
            </a:r>
            <a:endParaRPr sz="5750">
              <a:solidFill>
                <a:srgbClr val="F2E782"/>
              </a:solidFill>
              <a:latin typeface="Prata"/>
              <a:ea typeface="Prata"/>
              <a:cs typeface="Prata"/>
              <a:sym typeface="Prata"/>
            </a:endParaRPr>
          </a:p>
        </p:txBody>
      </p:sp>
      <p:pic>
        <p:nvPicPr>
          <p:cNvPr id="226" name="Google Shape;226;p23" title="Screenshot 2026-04-27 at 1.44.32 PM.png"/>
          <p:cNvPicPr preferRelativeResize="0"/>
          <p:nvPr/>
        </p:nvPicPr>
        <p:blipFill>
          <a:blip r:embed="rId3">
            <a:alphaModFix/>
          </a:blip>
          <a:stretch>
            <a:fillRect/>
          </a:stretch>
        </p:blipFill>
        <p:spPr>
          <a:xfrm>
            <a:off x="12668250" y="7562853"/>
            <a:ext cx="1962150" cy="6667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graphicFrame>
        <p:nvGraphicFramePr>
          <p:cNvPr id="232" name="Google Shape;232;p24"/>
          <p:cNvGraphicFramePr/>
          <p:nvPr/>
        </p:nvGraphicFramePr>
        <p:xfrm>
          <a:off x="2403925" y="1907875"/>
          <a:ext cx="3000000" cy="3000000"/>
        </p:xfrm>
        <a:graphic>
          <a:graphicData uri="http://schemas.openxmlformats.org/drawingml/2006/table">
            <a:tbl>
              <a:tblPr>
                <a:noFill/>
                <a:tableStyleId>{3EE2D670-4AE0-4960-BC58-9FC12FB3F473}</a:tableStyleId>
              </a:tblPr>
              <a:tblGrid>
                <a:gridCol w="4911275"/>
                <a:gridCol w="4911275"/>
              </a:tblGrid>
              <a:tr h="650975">
                <a:tc>
                  <a:txBody>
                    <a:bodyPr/>
                    <a:lstStyle/>
                    <a:p>
                      <a:pPr indent="0" lvl="0" marL="0" rtl="0" algn="ctr">
                        <a:spcBef>
                          <a:spcPts val="0"/>
                        </a:spcBef>
                        <a:spcAft>
                          <a:spcPts val="0"/>
                        </a:spcAft>
                        <a:buNone/>
                      </a:pPr>
                      <a:r>
                        <a:rPr b="1" lang="en-US" sz="3200">
                          <a:solidFill>
                            <a:srgbClr val="F2E782"/>
                          </a:solidFill>
                          <a:latin typeface="Prata"/>
                          <a:ea typeface="Prata"/>
                          <a:cs typeface="Prata"/>
                          <a:sym typeface="Prata"/>
                        </a:rPr>
                        <a:t>Team Member</a:t>
                      </a:r>
                      <a:endParaRPr b="1" sz="3200">
                        <a:solidFill>
                          <a:srgbClr val="F2E782"/>
                        </a:solidFill>
                        <a:latin typeface="Prata"/>
                        <a:ea typeface="Prata"/>
                        <a:cs typeface="Prata"/>
                        <a:sym typeface="Prata"/>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b="1" lang="en-US" sz="3200">
                          <a:solidFill>
                            <a:srgbClr val="F2E782"/>
                          </a:solidFill>
                          <a:latin typeface="Prata"/>
                          <a:ea typeface="Prata"/>
                          <a:cs typeface="Prata"/>
                          <a:sym typeface="Prata"/>
                        </a:rPr>
                        <a:t>Unity ID</a:t>
                      </a:r>
                      <a:endParaRPr b="1" sz="3200">
                        <a:solidFill>
                          <a:srgbClr val="F2E782"/>
                        </a:solidFill>
                        <a:latin typeface="Prata"/>
                        <a:ea typeface="Prata"/>
                        <a:cs typeface="Prata"/>
                        <a:sym typeface="Prata"/>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752575">
                <a:tc>
                  <a:txBody>
                    <a:bodyPr/>
                    <a:lstStyle/>
                    <a:p>
                      <a:pPr indent="0" lvl="0" marL="0" rtl="0" algn="ctr">
                        <a:spcBef>
                          <a:spcPts val="0"/>
                        </a:spcBef>
                        <a:spcAft>
                          <a:spcPts val="0"/>
                        </a:spcAft>
                        <a:buNone/>
                      </a:pPr>
                      <a:r>
                        <a:rPr lang="en-US" sz="3200">
                          <a:solidFill>
                            <a:srgbClr val="F2E782"/>
                          </a:solidFill>
                          <a:latin typeface="Prata"/>
                          <a:ea typeface="Prata"/>
                          <a:cs typeface="Prata"/>
                          <a:sym typeface="Prata"/>
                        </a:rPr>
                        <a:t>Ruby Albers</a:t>
                      </a:r>
                      <a:endParaRPr sz="3200">
                        <a:solidFill>
                          <a:srgbClr val="F2E782"/>
                        </a:solidFill>
                        <a:latin typeface="Prata"/>
                        <a:ea typeface="Prata"/>
                        <a:cs typeface="Prata"/>
                        <a:sym typeface="Prata"/>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US" sz="3200">
                          <a:solidFill>
                            <a:srgbClr val="F2E782"/>
                          </a:solidFill>
                          <a:latin typeface="Prata"/>
                          <a:ea typeface="Prata"/>
                          <a:cs typeface="Prata"/>
                          <a:sym typeface="Prata"/>
                        </a:rPr>
                        <a:t>rcalber2</a:t>
                      </a:r>
                      <a:endParaRPr sz="3200">
                        <a:solidFill>
                          <a:srgbClr val="F2E782"/>
                        </a:solidFill>
                        <a:latin typeface="Prata"/>
                        <a:ea typeface="Prata"/>
                        <a:cs typeface="Prata"/>
                        <a:sym typeface="Prata"/>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752575">
                <a:tc>
                  <a:txBody>
                    <a:bodyPr/>
                    <a:lstStyle/>
                    <a:p>
                      <a:pPr indent="0" lvl="0" marL="0" rtl="0" algn="ctr">
                        <a:spcBef>
                          <a:spcPts val="0"/>
                        </a:spcBef>
                        <a:spcAft>
                          <a:spcPts val="0"/>
                        </a:spcAft>
                        <a:buNone/>
                      </a:pPr>
                      <a:r>
                        <a:rPr lang="en-US" sz="3200">
                          <a:solidFill>
                            <a:srgbClr val="F2E782"/>
                          </a:solidFill>
                          <a:latin typeface="Prata"/>
                          <a:ea typeface="Prata"/>
                          <a:cs typeface="Prata"/>
                          <a:sym typeface="Prata"/>
                        </a:rPr>
                        <a:t>Sisira Boppana</a:t>
                      </a:r>
                      <a:endParaRPr sz="3200">
                        <a:solidFill>
                          <a:srgbClr val="F2E782"/>
                        </a:solidFill>
                        <a:latin typeface="Prata"/>
                        <a:ea typeface="Prata"/>
                        <a:cs typeface="Prata"/>
                        <a:sym typeface="Prata"/>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US" sz="3200">
                          <a:solidFill>
                            <a:srgbClr val="F2E782"/>
                          </a:solidFill>
                          <a:latin typeface="Prata"/>
                          <a:ea typeface="Prata"/>
                          <a:cs typeface="Prata"/>
                          <a:sym typeface="Prata"/>
                        </a:rPr>
                        <a:t>sboppan</a:t>
                      </a:r>
                      <a:endParaRPr sz="3200">
                        <a:solidFill>
                          <a:srgbClr val="F2E782"/>
                        </a:solidFill>
                        <a:latin typeface="Prata"/>
                        <a:ea typeface="Prata"/>
                        <a:cs typeface="Prata"/>
                        <a:sym typeface="Prata"/>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752575">
                <a:tc>
                  <a:txBody>
                    <a:bodyPr/>
                    <a:lstStyle/>
                    <a:p>
                      <a:pPr indent="0" lvl="0" marL="0" rtl="0" algn="ctr">
                        <a:spcBef>
                          <a:spcPts val="0"/>
                        </a:spcBef>
                        <a:spcAft>
                          <a:spcPts val="0"/>
                        </a:spcAft>
                        <a:buClr>
                          <a:srgbClr val="000000"/>
                        </a:buClr>
                        <a:buSzPts val="1100"/>
                        <a:buFont typeface="Arial"/>
                        <a:buNone/>
                      </a:pPr>
                      <a:r>
                        <a:rPr lang="en-US" sz="3200">
                          <a:solidFill>
                            <a:srgbClr val="F2E782"/>
                          </a:solidFill>
                          <a:latin typeface="Prata"/>
                          <a:ea typeface="Prata"/>
                          <a:cs typeface="Prata"/>
                          <a:sym typeface="Prata"/>
                        </a:rPr>
                        <a:t>Bhoomi Mehta</a:t>
                      </a:r>
                      <a:endParaRPr sz="3200">
                        <a:solidFill>
                          <a:srgbClr val="F2E782"/>
                        </a:solidFill>
                        <a:latin typeface="Prata"/>
                        <a:ea typeface="Prata"/>
                        <a:cs typeface="Prata"/>
                        <a:sym typeface="Prata"/>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Clr>
                          <a:srgbClr val="000000"/>
                        </a:buClr>
                        <a:buSzPts val="1100"/>
                        <a:buFont typeface="Arial"/>
                        <a:buNone/>
                      </a:pPr>
                      <a:r>
                        <a:rPr lang="en-US" sz="3200">
                          <a:solidFill>
                            <a:srgbClr val="F2E782"/>
                          </a:solidFill>
                          <a:latin typeface="Prata"/>
                          <a:ea typeface="Prata"/>
                          <a:cs typeface="Prata"/>
                          <a:sym typeface="Prata"/>
                        </a:rPr>
                        <a:t>bmehta</a:t>
                      </a:r>
                      <a:endParaRPr sz="3200">
                        <a:solidFill>
                          <a:srgbClr val="F2E782"/>
                        </a:solidFill>
                        <a:latin typeface="Prata"/>
                        <a:ea typeface="Prata"/>
                        <a:cs typeface="Prata"/>
                        <a:sym typeface="Prata"/>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752575">
                <a:tc>
                  <a:txBody>
                    <a:bodyPr/>
                    <a:lstStyle/>
                    <a:p>
                      <a:pPr indent="0" lvl="0" marL="0" rtl="0" algn="ctr">
                        <a:spcBef>
                          <a:spcPts val="0"/>
                        </a:spcBef>
                        <a:spcAft>
                          <a:spcPts val="0"/>
                        </a:spcAft>
                        <a:buNone/>
                      </a:pPr>
                      <a:r>
                        <a:rPr lang="en-US" sz="3200">
                          <a:solidFill>
                            <a:srgbClr val="F2E782"/>
                          </a:solidFill>
                          <a:latin typeface="Prata"/>
                          <a:ea typeface="Prata"/>
                          <a:cs typeface="Prata"/>
                          <a:sym typeface="Prata"/>
                        </a:rPr>
                        <a:t>Noah Conrad</a:t>
                      </a:r>
                      <a:endParaRPr sz="3200">
                        <a:solidFill>
                          <a:srgbClr val="F2E782"/>
                        </a:solidFill>
                        <a:latin typeface="Prata"/>
                        <a:ea typeface="Prata"/>
                        <a:cs typeface="Prata"/>
                        <a:sym typeface="Prata"/>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US" sz="3200">
                          <a:solidFill>
                            <a:srgbClr val="F2E782"/>
                          </a:solidFill>
                          <a:latin typeface="Prata"/>
                          <a:ea typeface="Prata"/>
                          <a:cs typeface="Prata"/>
                          <a:sym typeface="Prata"/>
                        </a:rPr>
                        <a:t>ncconrad</a:t>
                      </a:r>
                      <a:endParaRPr sz="3200">
                        <a:solidFill>
                          <a:srgbClr val="F2E782"/>
                        </a:solidFill>
                        <a:latin typeface="Prata"/>
                        <a:ea typeface="Prata"/>
                        <a:cs typeface="Prata"/>
                        <a:sym typeface="Prata"/>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752575">
                <a:tc>
                  <a:txBody>
                    <a:bodyPr/>
                    <a:lstStyle/>
                    <a:p>
                      <a:pPr indent="0" lvl="0" marL="0" rtl="0" algn="ctr">
                        <a:spcBef>
                          <a:spcPts val="0"/>
                        </a:spcBef>
                        <a:spcAft>
                          <a:spcPts val="0"/>
                        </a:spcAft>
                        <a:buNone/>
                      </a:pPr>
                      <a:r>
                        <a:rPr lang="en-US" sz="3200">
                          <a:solidFill>
                            <a:srgbClr val="F2E782"/>
                          </a:solidFill>
                          <a:latin typeface="Prata"/>
                          <a:ea typeface="Prata"/>
                          <a:cs typeface="Prata"/>
                          <a:sym typeface="Prata"/>
                        </a:rPr>
                        <a:t>Sara Chandorkar</a:t>
                      </a:r>
                      <a:endParaRPr sz="3200">
                        <a:solidFill>
                          <a:srgbClr val="F2E782"/>
                        </a:solidFill>
                        <a:latin typeface="Prata"/>
                        <a:ea typeface="Prata"/>
                        <a:cs typeface="Prata"/>
                        <a:sym typeface="Prata"/>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US" sz="3200">
                          <a:solidFill>
                            <a:srgbClr val="F2E782"/>
                          </a:solidFill>
                          <a:latin typeface="Prata"/>
                          <a:ea typeface="Prata"/>
                          <a:cs typeface="Prata"/>
                          <a:sym typeface="Prata"/>
                        </a:rPr>
                        <a:t>schando</a:t>
                      </a:r>
                      <a:endParaRPr sz="3200">
                        <a:solidFill>
                          <a:srgbClr val="F2E782"/>
                        </a:solidFill>
                        <a:latin typeface="Prata"/>
                        <a:ea typeface="Prata"/>
                        <a:cs typeface="Prata"/>
                        <a:sym typeface="Prata"/>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pic>
        <p:nvPicPr>
          <p:cNvPr id="233" name="Google Shape;233;p24" title="Screenshot 2026-04-27 at 1.44.32 PM.png"/>
          <p:cNvPicPr preferRelativeResize="0"/>
          <p:nvPr/>
        </p:nvPicPr>
        <p:blipFill>
          <a:blip r:embed="rId3">
            <a:alphaModFix/>
          </a:blip>
          <a:stretch>
            <a:fillRect/>
          </a:stretch>
        </p:blipFill>
        <p:spPr>
          <a:xfrm>
            <a:off x="12668250" y="7562853"/>
            <a:ext cx="1962150" cy="6667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