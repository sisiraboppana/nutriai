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8288000" cx="10287000"/>
  <p:notesSz cx="6858000" cy="9144000"/>
  <p:embeddedFontLst>
    <p:embeddedFont>
      <p:font typeface="Caveat"/>
      <p:regular r:id="rId14"/>
      <p:bold r:id="rId15"/>
    </p:embeddedFont>
    <p:embeddedFont>
      <p:font typeface="Italianno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19D288-92C3-4673-A0B5-30CBB4F4C7D1}">
  <a:tblStyle styleId="{2A19D288-92C3-4673-A0B5-30CBB4F4C7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Caveat-bold.fntdata"/><Relationship Id="rId14" Type="http://schemas.openxmlformats.org/officeDocument/2006/relationships/font" Target="fonts/Caveat-regular.fntdata"/><Relationship Id="rId16" Type="http://schemas.openxmlformats.org/officeDocument/2006/relationships/font" Target="fonts/Italian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9c39e8a36_0_5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9c39e8a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537083efe_2_18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537083efe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537083efe_0_8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537083ef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537083efe_0_1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537083ef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537083efe_0_3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537083ef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537083efe_0_6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537083ef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6061" lvl="0" marL="4572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indent="-40063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indent="-40063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indent="-40063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indent="-40063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indent="-40063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indent="-40063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indent="-40063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indent="-400638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0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4">
            <a:alphaModFix/>
          </a:blip>
          <a:srcRect b="42913" l="15769" r="68747" t="20894"/>
          <a:stretch/>
        </p:blipFill>
        <p:spPr>
          <a:xfrm>
            <a:off x="2594625" y="11283700"/>
            <a:ext cx="1689125" cy="23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2575" y="491975"/>
            <a:ext cx="2077776" cy="23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579300" y="781925"/>
            <a:ext cx="63909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3">
                <a:solidFill>
                  <a:schemeClr val="lt1"/>
                </a:solidFill>
                <a:latin typeface="Italianno"/>
                <a:ea typeface="Italianno"/>
                <a:cs typeface="Italianno"/>
                <a:sym typeface="Italianno"/>
              </a:rPr>
              <a:t>Nutri AI</a:t>
            </a:r>
            <a:endParaRPr sz="11983">
              <a:solidFill>
                <a:schemeClr val="lt1"/>
              </a:solidFill>
              <a:latin typeface="Italianno"/>
              <a:ea typeface="Italianno"/>
              <a:cs typeface="Italianno"/>
              <a:sym typeface="Italian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276400" y="6129125"/>
            <a:ext cx="90732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Username: </a:t>
            </a:r>
            <a:endParaRPr sz="3483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276400" y="7527825"/>
            <a:ext cx="90732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Password</a:t>
            </a:r>
            <a:r>
              <a:rPr lang="en" sz="3483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endParaRPr sz="3483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143375" y="9705425"/>
            <a:ext cx="82062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6">
            <a:alphaModFix/>
          </a:blip>
          <a:srcRect b="31274" l="11097" r="12322" t="30068"/>
          <a:stretch/>
        </p:blipFill>
        <p:spPr>
          <a:xfrm>
            <a:off x="2143375" y="9495163"/>
            <a:ext cx="5383175" cy="11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7">
            <a:alphaModFix/>
          </a:blip>
          <a:srcRect b="5309" l="11900" r="14781" t="7079"/>
          <a:stretch/>
        </p:blipFill>
        <p:spPr>
          <a:xfrm>
            <a:off x="5450071" y="11283700"/>
            <a:ext cx="1941004" cy="23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823650" y="13860675"/>
            <a:ext cx="86397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Log in with your health tracker accounts</a:t>
            </a:r>
            <a:endParaRPr sz="3483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754650" y="16656725"/>
            <a:ext cx="95025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“To eat is a necessity, but to eat intelligently is an art”</a:t>
            </a:r>
            <a:endParaRPr sz="34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44979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83"/>
              <a:buFont typeface="Caveat"/>
              <a:buChar char="-"/>
            </a:pP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La Rochefoucald</a:t>
            </a:r>
            <a:endParaRPr sz="34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0" y="3939125"/>
            <a:ext cx="10349700" cy="10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Create Account</a:t>
            </a:r>
            <a:endParaRPr b="1" sz="5700">
              <a:solidFill>
                <a:schemeClr val="accent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283750" y="8616625"/>
            <a:ext cx="68721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34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575" y="491975"/>
            <a:ext cx="2077776" cy="23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3579300" y="781925"/>
            <a:ext cx="63909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3">
                <a:solidFill>
                  <a:schemeClr val="lt1"/>
                </a:solidFill>
                <a:latin typeface="Italianno"/>
                <a:ea typeface="Italianno"/>
                <a:cs typeface="Italianno"/>
                <a:sym typeface="Italianno"/>
              </a:rPr>
              <a:t>Nutri AI</a:t>
            </a:r>
            <a:endParaRPr sz="11983">
              <a:solidFill>
                <a:schemeClr val="lt1"/>
              </a:solidFill>
              <a:latin typeface="Italianno"/>
              <a:ea typeface="Italianno"/>
              <a:cs typeface="Italianno"/>
              <a:sym typeface="Italiann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54650" y="16656725"/>
            <a:ext cx="95025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“To eat is a necessity, but to eat intelligently is an art”</a:t>
            </a:r>
            <a:endParaRPr sz="34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44979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83"/>
              <a:buFont typeface="Caveat"/>
              <a:buChar char="-"/>
            </a:pP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La Rochefoucald</a:t>
            </a:r>
            <a:endParaRPr sz="34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0" y="3493025"/>
            <a:ext cx="10287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rgbClr val="FFFFFF"/>
                </a:solidFill>
                <a:highlight>
                  <a:schemeClr val="accent5"/>
                </a:highlight>
                <a:latin typeface="Georgia"/>
                <a:ea typeface="Georgia"/>
                <a:cs typeface="Georgia"/>
                <a:sym typeface="Georgia"/>
              </a:rPr>
              <a:t>Home Page</a:t>
            </a:r>
            <a:endParaRPr sz="57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812250" y="5691125"/>
            <a:ext cx="2878200" cy="287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Georgia"/>
                <a:ea typeface="Georgia"/>
                <a:cs typeface="Georgia"/>
                <a:sym typeface="Georgia"/>
              </a:rPr>
              <a:t>User </a:t>
            </a:r>
            <a:r>
              <a:rPr lang="en" sz="3500">
                <a:latin typeface="Georgia"/>
                <a:ea typeface="Georgia"/>
                <a:cs typeface="Georgia"/>
                <a:sym typeface="Georgia"/>
              </a:rPr>
              <a:t>Profile</a:t>
            </a:r>
            <a:endParaRPr sz="3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335650" y="9293750"/>
            <a:ext cx="2878200" cy="287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Georgia"/>
                <a:ea typeface="Georgia"/>
                <a:cs typeface="Georgia"/>
                <a:sym typeface="Georgia"/>
              </a:rPr>
              <a:t>Get Advice</a:t>
            </a:r>
            <a:endParaRPr sz="3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1812250" y="9293750"/>
            <a:ext cx="2878200" cy="287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Georgia"/>
                <a:ea typeface="Georgia"/>
                <a:cs typeface="Georgia"/>
                <a:sym typeface="Georgia"/>
              </a:rPr>
              <a:t>Get Recipes</a:t>
            </a:r>
            <a:endParaRPr sz="3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335650" y="5691125"/>
            <a:ext cx="2878200" cy="287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Georgia"/>
                <a:ea typeface="Georgia"/>
                <a:cs typeface="Georgia"/>
                <a:sym typeface="Georgia"/>
              </a:rPr>
              <a:t>Log a Meal</a:t>
            </a:r>
            <a:endParaRPr sz="3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0" y="3457750"/>
            <a:ext cx="10287000" cy="10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Menu Page</a:t>
            </a:r>
            <a:endParaRPr b="1" sz="5700">
              <a:solidFill>
                <a:schemeClr val="accent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7788" y="6712950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1188" y="6712950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27788" y="10340575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39913" y="10340575"/>
            <a:ext cx="1469700" cy="14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575" y="491975"/>
            <a:ext cx="2077776" cy="23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3579300" y="781925"/>
            <a:ext cx="63909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3">
                <a:solidFill>
                  <a:schemeClr val="lt1"/>
                </a:solidFill>
                <a:latin typeface="Italianno"/>
                <a:ea typeface="Italianno"/>
                <a:cs typeface="Italianno"/>
                <a:sym typeface="Italianno"/>
              </a:rPr>
              <a:t>Nutri AI</a:t>
            </a:r>
            <a:endParaRPr sz="11983">
              <a:solidFill>
                <a:schemeClr val="lt1"/>
              </a:solidFill>
              <a:latin typeface="Italianno"/>
              <a:ea typeface="Italianno"/>
              <a:cs typeface="Italianno"/>
              <a:sym typeface="Italianno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0" y="3457750"/>
            <a:ext cx="10287000" cy="10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User Profile</a:t>
            </a:r>
            <a:endParaRPr b="1" sz="5700">
              <a:solidFill>
                <a:schemeClr val="accent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37500" y="5554125"/>
            <a:ext cx="9736800" cy="8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Name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 John Doe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Age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 27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Gender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 Male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Height 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(cm): 175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Weight 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(lb): 210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BMI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 20.6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Calories consumed today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 1840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Calories burnt today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 650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Calories consumed total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 482340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Calories burnt total</a:t>
            </a:r>
            <a:r>
              <a:rPr lang="en" sz="348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 283420</a:t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754650" y="16656725"/>
            <a:ext cx="95025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“To eat is a </a:t>
            </a: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necessity</a:t>
            </a: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, but to eat intelligently is an art”</a:t>
            </a:r>
            <a:endParaRPr sz="34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44979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83"/>
              <a:buFont typeface="Caveat"/>
              <a:buChar char="-"/>
            </a:pP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La Rochefoucald</a:t>
            </a:r>
            <a:endParaRPr sz="34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96" name="Google Shape;96;p16" title="Untitled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937" y="14834347"/>
            <a:ext cx="2007750" cy="199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488" y="15009600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57988" y="15009588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38488" y="15009600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85613" y="15098313"/>
            <a:ext cx="1469700" cy="14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575" y="491975"/>
            <a:ext cx="2077776" cy="23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3579300" y="781925"/>
            <a:ext cx="63909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3">
                <a:solidFill>
                  <a:schemeClr val="lt1"/>
                </a:solidFill>
                <a:latin typeface="Italianno"/>
                <a:ea typeface="Italianno"/>
                <a:cs typeface="Italianno"/>
                <a:sym typeface="Italianno"/>
              </a:rPr>
              <a:t>Nutri AI</a:t>
            </a:r>
            <a:endParaRPr sz="11983">
              <a:solidFill>
                <a:schemeClr val="lt1"/>
              </a:solidFill>
              <a:latin typeface="Italianno"/>
              <a:ea typeface="Italianno"/>
              <a:cs typeface="Italianno"/>
              <a:sym typeface="Italianno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877200" y="7565700"/>
            <a:ext cx="85326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Logged Meal: </a:t>
            </a:r>
            <a:endParaRPr sz="3483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Total calories:</a:t>
            </a:r>
            <a:endParaRPr sz="3483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Ingredients: </a:t>
            </a:r>
            <a:endParaRPr sz="3483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010350" y="5570585"/>
            <a:ext cx="7028400" cy="1469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Georgia"/>
                <a:ea typeface="Georgia"/>
                <a:cs typeface="Georgia"/>
                <a:sym typeface="Georgia"/>
              </a:rPr>
              <a:t>Log your meal</a:t>
            </a:r>
            <a:endParaRPr sz="5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754650" y="13101413"/>
            <a:ext cx="8112900" cy="102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5736000" y="10857375"/>
            <a:ext cx="45510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Calories remaining:</a:t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720638" y="10857375"/>
            <a:ext cx="47751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Calories consumed:</a:t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754650" y="11728200"/>
            <a:ext cx="2878200" cy="1028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1840</a:t>
            </a:r>
            <a:endParaRPr sz="3400"/>
          </a:p>
        </p:txBody>
      </p:sp>
      <p:sp>
        <p:nvSpPr>
          <p:cNvPr id="113" name="Google Shape;113;p17"/>
          <p:cNvSpPr/>
          <p:nvPr/>
        </p:nvSpPr>
        <p:spPr>
          <a:xfrm>
            <a:off x="6073950" y="11728200"/>
            <a:ext cx="2878200" cy="1028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1000</a:t>
            </a:r>
            <a:endParaRPr sz="3400"/>
          </a:p>
        </p:txBody>
      </p:sp>
      <p:sp>
        <p:nvSpPr>
          <p:cNvPr id="114" name="Google Shape;114;p17"/>
          <p:cNvSpPr/>
          <p:nvPr/>
        </p:nvSpPr>
        <p:spPr>
          <a:xfrm>
            <a:off x="754650" y="13101425"/>
            <a:ext cx="6390900" cy="102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754650" y="16656725"/>
            <a:ext cx="95025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“To eat is a necessity, but to eat intelligently is an art”</a:t>
            </a:r>
            <a:endParaRPr sz="34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44979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83"/>
              <a:buFont typeface="Caveat"/>
              <a:buChar char="-"/>
            </a:pPr>
            <a:r>
              <a:rPr lang="en" sz="34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La Rochefoucald</a:t>
            </a:r>
            <a:endParaRPr sz="34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0" y="3457750"/>
            <a:ext cx="10287000" cy="10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Log Your Meal</a:t>
            </a:r>
            <a:endParaRPr b="1" sz="5700">
              <a:solidFill>
                <a:schemeClr val="accent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750" y="5021125"/>
            <a:ext cx="2464550" cy="24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 title="Untitled-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937" y="14834347"/>
            <a:ext cx="2007750" cy="199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488" y="15009600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7988" y="15009588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38488" y="15009600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85613" y="15098313"/>
            <a:ext cx="1469700" cy="14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575" y="491975"/>
            <a:ext cx="2077776" cy="23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3579300" y="781925"/>
            <a:ext cx="63909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83">
                <a:solidFill>
                  <a:schemeClr val="lt1"/>
                </a:solidFill>
                <a:latin typeface="Italianno"/>
                <a:ea typeface="Italianno"/>
                <a:cs typeface="Italianno"/>
                <a:sym typeface="Italianno"/>
              </a:rPr>
              <a:t>Nutri AI</a:t>
            </a:r>
            <a:endParaRPr sz="11983">
              <a:solidFill>
                <a:schemeClr val="lt1"/>
              </a:solidFill>
              <a:latin typeface="Italianno"/>
              <a:ea typeface="Italianno"/>
              <a:cs typeface="Italianno"/>
              <a:sym typeface="Italianno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342975" y="16776050"/>
            <a:ext cx="102870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“To eat is a necessity, but to eat intelligently is an art”</a:t>
            </a:r>
            <a:endParaRPr sz="37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46884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83"/>
              <a:buFont typeface="Caveat"/>
              <a:buChar char="-"/>
            </a:pPr>
            <a:r>
              <a:rPr lang="en" sz="3783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La Rochefoucald</a:t>
            </a:r>
            <a:endParaRPr sz="3783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0" y="3457750"/>
            <a:ext cx="10287000" cy="10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700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Log Your Meal</a:t>
            </a:r>
            <a:endParaRPr b="1" sz="5700">
              <a:solidFill>
                <a:schemeClr val="accent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600" y="4722844"/>
            <a:ext cx="9817800" cy="918888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6884725" y="10843350"/>
            <a:ext cx="975371" cy="2319029"/>
          </a:xfrm>
          <a:custGeom>
            <a:rect b="b" l="l" r="r" t="t"/>
            <a:pathLst>
              <a:path extrusionOk="0" h="104039" w="42265">
                <a:moveTo>
                  <a:pt x="0" y="0"/>
                </a:moveTo>
                <a:lnTo>
                  <a:pt x="42265" y="104039"/>
                </a:lnTo>
              </a:path>
            </a:pathLst>
          </a:cu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3" name="Google Shape;133;p18"/>
          <p:cNvSpPr txBox="1"/>
          <p:nvPr/>
        </p:nvSpPr>
        <p:spPr>
          <a:xfrm>
            <a:off x="7174200" y="13162375"/>
            <a:ext cx="3112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lt1"/>
                </a:solidFill>
              </a:rPr>
              <a:t>120 calories</a:t>
            </a:r>
            <a:endParaRPr sz="3483">
              <a:solidFill>
                <a:schemeClr val="lt1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2176700" y="14022825"/>
            <a:ext cx="6261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83">
                <a:solidFill>
                  <a:schemeClr val="lt1"/>
                </a:solidFill>
              </a:rPr>
              <a:t>Check </a:t>
            </a:r>
            <a:r>
              <a:rPr lang="en" sz="4183">
                <a:solidFill>
                  <a:schemeClr val="lt1"/>
                </a:solidFill>
              </a:rPr>
              <a:t>Nutrition</a:t>
            </a:r>
            <a:r>
              <a:rPr lang="en" sz="4183">
                <a:solidFill>
                  <a:schemeClr val="lt1"/>
                </a:solidFill>
              </a:rPr>
              <a:t> Facts</a:t>
            </a:r>
            <a:endParaRPr sz="2100">
              <a:solidFill>
                <a:schemeClr val="lt1"/>
              </a:solidFill>
            </a:endParaRPr>
          </a:p>
        </p:txBody>
      </p:sp>
      <p:pic>
        <p:nvPicPr>
          <p:cNvPr id="135" name="Google Shape;135;p18" title="Untitled-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937" y="14834347"/>
            <a:ext cx="2007750" cy="199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488" y="15009600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57988" y="15009588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38488" y="15009600"/>
            <a:ext cx="1647125" cy="16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85613" y="15098313"/>
            <a:ext cx="1469700" cy="14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19"/>
          <p:cNvGraphicFramePr/>
          <p:nvPr/>
        </p:nvGraphicFramePr>
        <p:xfrm>
          <a:off x="0" y="446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{2A19D288-92C3-4673-A0B5-30CBB4F4C7D1}</a:tableStyleId>
              </a:tblPr>
              <a:tblGrid>
                <a:gridCol w="5143500"/>
                <a:gridCol w="5143500"/>
              </a:tblGrid>
              <a:tr h="91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Member</a:t>
                      </a:r>
                      <a:endParaRPr b="1" sz="5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Unity ID</a:t>
                      </a:r>
                      <a:endParaRPr b="1" sz="5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92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Ruby Albers</a:t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rcalber2</a:t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92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Sisira Boppana</a:t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sboppan</a:t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92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5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Bhoomi Mehta</a:t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5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" sz="5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mehta</a:t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736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Sara Chandorkar</a:t>
                      </a:r>
                      <a:endParaRPr sz="5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schando</a:t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92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Noah Conrad</a:t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ncconrad</a:t>
                      </a:r>
                      <a:endParaRPr sz="5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45" name="Google Shape;145;p19"/>
          <p:cNvSpPr txBox="1"/>
          <p:nvPr/>
        </p:nvSpPr>
        <p:spPr>
          <a:xfrm>
            <a:off x="2352900" y="1821275"/>
            <a:ext cx="55812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83">
                <a:solidFill>
                  <a:schemeClr val="dk2"/>
                </a:solidFill>
              </a:rPr>
              <a:t>Team Info</a:t>
            </a:r>
            <a:endParaRPr sz="648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